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A8C66C"/>
                </a:solidFill>
                <a:latin typeface="맑은 고딕"/>
                <a:ea typeface="맑은 고딕"/>
              </a:rPr>
              <a:t>제11회 농업·농촌 공공데이터+AI 활용 창업경진대회 — 2차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</a:rPr>
              <a:t>팜바톤 </a:t>
            </a:r>
            <a:r>
              <a:rPr sz="3400" b="1">
                <a:solidFill>
                  <a:srgbClr val="A8C66C"/>
                </a:solidFill>
                <a:latin typeface="맑은 고딕"/>
                <a:ea typeface="맑은 고딕"/>
              </a:rPr>
              <a:t>FarmBaton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CDD8CF"/>
                </a:solidFill>
                <a:latin typeface="맑은 고딕"/>
                <a:ea typeface="맑은 고딕"/>
              </a:rPr>
              <a:t>떠나는 농장과 시작하는 청년을 잇다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429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CDD8CF"/>
                </a:solidFill>
                <a:latin typeface="맑은 고딕"/>
                <a:ea typeface="맑은 고딕"/>
              </a:rPr>
              <a:t>고령 농가의 농장(농지·작목·시설·판로)을 청년농에게 잇는 승계 진단·매칭 플랫폼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06240"/>
            <a:ext cx="5943600" cy="566928"/>
          </a:xfrm>
          <a:prstGeom prst="roundRect">
            <a:avLst>
              <a:gd name="adj" fmla="val 50000"/>
            </a:avLst>
          </a:prstGeom>
          <a:solidFill>
            <a:srgbClr val="23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1596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farmbaton.vercel.app</a:t>
            </a:r>
            <a:r>
              <a:rPr sz="1200" b="0">
                <a:solidFill>
                  <a:srgbClr val="CDD8CF"/>
                </a:solidFill>
                <a:latin typeface="맑은 고딕"/>
                <a:ea typeface="맑은 고딕"/>
              </a:rPr>
              <a:t>   — 지금 접속하시면 실제로 동작합니다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411480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206240"/>
            <a:ext cx="123444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" y="6126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49B"/>
                </a:solidFill>
                <a:latin typeface="맑은 고딕"/>
                <a:ea typeface="맑은 고딕"/>
              </a:rPr>
              <a:t>팀  김정훈 · 윤채원 · 유수민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문제 — 주제 시의성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농장은 멈추는데, 이어받을 통로가 없다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600200"/>
            <a:ext cx="3282696" cy="57150"/>
          </a:xfrm>
          <a:prstGeom prst="rect">
            <a:avLst/>
          </a:prstGeom>
          <a:solidFill>
            <a:srgbClr val="7A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5351F"/>
                </a:solidFill>
                <a:latin typeface="맑은 고딕"/>
                <a:ea typeface="맑은 고딕"/>
              </a:rPr>
              <a:t>55.8%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241B"/>
                </a:solidFill>
                <a:latin typeface="맑은 고딕"/>
                <a:ea typeface="맑은 고딕"/>
              </a:rPr>
              <a:t>65세 이상 농가인구 비율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역대 최고 (처음 55% 돌파)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600200"/>
            <a:ext cx="3282696" cy="57150"/>
          </a:xfrm>
          <a:prstGeom prst="rect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5351F"/>
                </a:solidFill>
                <a:latin typeface="맑은 고딕"/>
                <a:ea typeface="맑은 고딕"/>
              </a:rPr>
              <a:t>49만 가구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546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241B"/>
                </a:solidFill>
                <a:latin typeface="맑은 고딕"/>
                <a:ea typeface="맑은 고딕"/>
              </a:rPr>
              <a:t>70세 이상 경영주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전체 경영주의 과반 (50.8%)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1600200"/>
            <a:ext cx="3282696" cy="571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5351F"/>
                </a:solidFill>
                <a:latin typeface="맑은 고딕"/>
                <a:ea typeface="맑은 고딕"/>
              </a:rPr>
              <a:t>4,601가구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6241B"/>
                </a:solidFill>
                <a:latin typeface="맑은 고딕"/>
                <a:ea typeface="맑은 고딕"/>
              </a:rPr>
              <a:t>40세 미만 청년 경영주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12,426 → 4,601 · 4년 만에 1/3, 역대 최저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63440"/>
            <a:ext cx="11183112" cy="777240"/>
          </a:xfrm>
          <a:prstGeom prst="roundRect">
            <a:avLst>
              <a:gd name="adj" fmla="val 12000"/>
            </a:avLst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28032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수십만 농가가 은퇴를 앞두고 있지만 — 청년농과 만날 통로가 없습니다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150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출처: 통계청 2024 농림어업조사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기존 대안의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기존 수단은 '농장'을 통째로 다루지 못한다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8311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240280"/>
                <a:gridCol w="2240280"/>
                <a:gridCol w="2240280"/>
                <a:gridCol w="272491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감정평가·중개</a:t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부동산 플랫폼</a:t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농지은행</a:t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팜바톤</a:t>
                      </a:r>
                    </a:p>
                  </a:txBody>
                  <a:tcPr anchor="ctr">
                    <a:solidFill>
                      <a:srgbClr val="E3E6D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평가 대상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토지·건물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토지·건물(범용)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농지만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2000" b="1">
                          <a:solidFill>
                            <a:srgbClr val="9AA49B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anchor="ctr" marL="91440" marR="91440">
                    <a:solidFill>
                      <a:srgbClr val="EFEF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가치 산정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감정평가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(수십만 원·수일)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실거래 조회·AVM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공시지가·호가 수준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2000" b="1">
                          <a:solidFill>
                            <a:srgbClr val="9AA49B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anchor="ctr" marL="91440" marR="91440">
                    <a:solidFill>
                      <a:srgbClr val="EFEF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승계 매칭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농지 한정 제도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2000" b="1">
                          <a:solidFill>
                            <a:srgbClr val="9AA49B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anchor="ctr" marL="91440" marR="91440">
                    <a:solidFill>
                      <a:srgbClr val="EFEF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당사자 연결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대면·전화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매물 게시형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매물 게시형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2000" b="1">
                          <a:solidFill>
                            <a:srgbClr val="9AA49B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anchor="ctr" marL="91440" marR="91440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77840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5351F"/>
                </a:solidFill>
                <a:latin typeface="맑은 고딕"/>
                <a:ea typeface="맑은 고딕"/>
              </a:rPr>
              <a:t>농장 = 농지 + 작목 + 시설 + 판로</a:t>
            </a:r>
            <a:r>
              <a:rPr sz="1400" b="0">
                <a:solidFill>
                  <a:srgbClr val="5E6A61"/>
                </a:solidFill>
                <a:latin typeface="맑은 고딕"/>
                <a:ea typeface="맑은 고딕"/>
              </a:rPr>
              <a:t>  — 이 전체를 평가하고 연결하는 통로가 비어 있습니다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주소 하나로 시작하는 양면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965960"/>
            <a:ext cx="2779776" cy="57150"/>
          </a:xfrm>
          <a:prstGeom prst="rect">
            <a:avLst/>
          </a:prstGeom>
          <a:solidFill>
            <a:srgbClr val="7A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5A6A44"/>
                </a:solidFill>
                <a:latin typeface="맑은 고딕"/>
                <a:ea typeface="맑은 고딕"/>
              </a:rPr>
              <a:t>농장주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6241B"/>
                </a:solidFill>
                <a:latin typeface="맑은 고딕"/>
                <a:ea typeface="맑은 고딕"/>
              </a:rPr>
              <a:t>주소만 입력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E6A61"/>
                </a:solidFill>
                <a:latin typeface="맑은 고딕"/>
                <a:ea typeface="맑은 고딕"/>
              </a:rPr>
              <a:t>→ 인수 검토가 범위(참고용 추정)
→ 관점별 AI 리포트(PDF)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96596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22792" y="1965960"/>
            <a:ext cx="2779776" cy="571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33172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6F8F3A"/>
                </a:solidFill>
                <a:latin typeface="맑은 고딕"/>
                <a:ea typeface="맑은 고딕"/>
              </a:rPr>
              <a:t>청년농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6241B"/>
                </a:solidFill>
                <a:latin typeface="맑은 고딕"/>
                <a:ea typeface="맑은 고딕"/>
              </a:rPr>
              <a:t>희망 조건만 입력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E6A61"/>
                </a:solidFill>
                <a:latin typeface="맑은 고딕"/>
                <a:ea typeface="맑은 고딕"/>
              </a:rPr>
              <a:t>→ 승계 가능 농장 점수순 추천
→ 지원사업·상담·채팅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965960"/>
            <a:ext cx="3337560" cy="2286000"/>
          </a:xfrm>
          <a:prstGeom prst="roundRect">
            <a:avLst>
              <a:gd name="adj" fmla="val 8000"/>
            </a:avLst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팜바톤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6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A8C66C"/>
                </a:solidFill>
                <a:latin typeface="맑은 고딕"/>
                <a:ea typeface="맑은 고딕"/>
              </a:rPr>
              <a:t>진단 엔진  ·  매칭 엔진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CDD8CF"/>
                </a:solidFill>
                <a:latin typeface="맑은 고딕"/>
                <a:ea typeface="맑은 고딕"/>
              </a:rPr>
              <a:t>공공데이터 7종 결합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22191" y="2907792"/>
            <a:ext cx="548640" cy="384048"/>
          </a:xfrm>
          <a:prstGeom prst="rightArrow">
            <a:avLst/>
          </a:prstGeom>
          <a:solidFill>
            <a:srgbClr val="9AA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7845552" y="2907792"/>
            <a:ext cx="548640" cy="384048"/>
          </a:xfrm>
          <a:prstGeom prst="leftArrow">
            <a:avLst/>
          </a:prstGeom>
          <a:solidFill>
            <a:srgbClr val="9AA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20240" y="4892040"/>
            <a:ext cx="3977639" cy="566928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5020056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8047"/>
                </a:solidFill>
                <a:latin typeface="맑은 고딕"/>
                <a:ea typeface="맑은 고딕"/>
              </a:rPr>
              <a:t>①  농가 등록 → 인수 검토 리포트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892040"/>
            <a:ext cx="3977639" cy="566928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020056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8047"/>
                </a:solidFill>
                <a:latin typeface="맑은 고딕"/>
                <a:ea typeface="맑은 고딕"/>
              </a:rPr>
              <a:t>②  청년농 프로필 → 매칭 리스트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E6A61"/>
                </a:solidFill>
                <a:latin typeface="맑은 고딕"/>
                <a:ea typeface="맑은 고딕"/>
              </a:rPr>
              <a:t>기능은 이 두 개가 전부입니다 — 직접 보여드리겠습니다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설명 대신, 직접 보여드리겠습니다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468880"/>
            <a:ext cx="512064" cy="512064"/>
          </a:xfrm>
          <a:prstGeom prst="ellipse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5351F"/>
                </a:solidFill>
                <a:latin typeface="맑은 고딕"/>
                <a:ea typeface="맑은 고딕"/>
              </a:rPr>
              <a:t>주소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팜맵 필지 면적
자동 취득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18104" y="3108960"/>
            <a:ext cx="402336" cy="310896"/>
          </a:xfrm>
          <a:prstGeom prst="rightArrow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14884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8848" y="2468880"/>
            <a:ext cx="512064" cy="512064"/>
          </a:xfrm>
          <a:prstGeom prst="ellipse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1546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5351F"/>
                </a:solidFill>
                <a:latin typeface="맑은 고딕"/>
                <a:ea typeface="맑은 고딕"/>
              </a:rPr>
              <a:t>검토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118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인수 검토가 범위
+ 신뢰등급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98464" y="3108960"/>
            <a:ext cx="402336" cy="310896"/>
          </a:xfrm>
          <a:prstGeom prst="rightArrow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214884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79208" y="2468880"/>
            <a:ext cx="512064" cy="512064"/>
          </a:xfrm>
          <a:prstGeom prst="ellipse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546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5351F"/>
                </a:solidFill>
                <a:latin typeface="맑은 고딕"/>
                <a:ea typeface="맑은 고딕"/>
              </a:rPr>
              <a:t>청년농 매칭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118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6요인 100점
점수순 추천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8824" y="3108960"/>
            <a:ext cx="402336" cy="310896"/>
          </a:xfrm>
          <a:prstGeom prst="rightArrow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214884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59568" y="2468880"/>
            <a:ext cx="512064" cy="512064"/>
          </a:xfrm>
          <a:prstGeom prst="ellipse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1546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5351F"/>
                </a:solidFill>
                <a:latin typeface="맑은 고딕"/>
                <a:ea typeface="맑은 고딕"/>
              </a:rPr>
              <a:t>상담 · 채팅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6118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E6A61"/>
                </a:solidFill>
                <a:latin typeface="맑은 고딕"/>
                <a:ea typeface="맑은 고딕"/>
              </a:rPr>
              <a:t>수락 시 인앱
양방향 대화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516636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529437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farmbaton.vercel.app</a:t>
            </a:r>
            <a:r>
              <a:rPr sz="1150" b="0">
                <a:solidFill>
                  <a:srgbClr val="CDD8CF"/>
                </a:solidFill>
                <a:latin typeface="맑은 고딕"/>
                <a:ea typeface="맑은 고딕"/>
              </a:rPr>
              <a:t>  · 실서비스 라이브 (백업 영상 준비)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AI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숫자는 알고리즘, 설명은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691640"/>
            <a:ext cx="4928616" cy="57150"/>
          </a:xfrm>
          <a:prstGeom prst="rect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6177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1F8047"/>
                </a:solidFill>
                <a:latin typeface="맑은 고딕"/>
                <a:ea typeface="맑은 고딕"/>
              </a:rPr>
              <a:t>결정론 엔진 — 금액·점수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8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16241B"/>
                </a:solidFill>
                <a:latin typeface="맑은 고딕"/>
                <a:ea typeface="맑은 고딕"/>
              </a:rPr>
              <a:t>금액 계산에 LLM을 쓰지 않습니다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5E6A61"/>
                </a:solidFill>
                <a:latin typeface="맑은 고딕"/>
                <a:ea typeface="맑은 고딕"/>
              </a:rPr>
              <a:t>· 100% 결정론 Python 산식 (pytest 55개로 고정)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5E6A61"/>
                </a:solidFill>
                <a:latin typeface="맑은 고딕"/>
                <a:ea typeface="맑은 고딕"/>
              </a:rPr>
              <a:t>· 같은 입력 → 같은 결과 · 추적·검증 가능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5E6A61"/>
                </a:solidFill>
                <a:latin typeface="맑은 고딕"/>
                <a:ea typeface="맑은 고딕"/>
              </a:rPr>
              <a:t>· 환각으로 인한 금액 오류 원천 차단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28232" y="1691640"/>
            <a:ext cx="4928616" cy="571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46177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6F8F3A"/>
                </a:solidFill>
                <a:latin typeface="맑은 고딕"/>
                <a:ea typeface="맑은 고딕"/>
              </a:rPr>
              <a:t>생성형 AI — 설명 전담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8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16241B"/>
                </a:solidFill>
                <a:latin typeface="맑은 고딕"/>
                <a:ea typeface="맑은 고딕"/>
              </a:rPr>
              <a:t>같은 수치를 관점별 언어로 번역합니다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5E6A61"/>
                </a:solidFill>
                <a:latin typeface="맑은 고딕"/>
                <a:ea typeface="맑은 고딕"/>
              </a:rPr>
              <a:t>· 농장주: 매도 준비·시설 가치 관점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5E6A61"/>
                </a:solidFill>
                <a:latin typeface="맑은 고딕"/>
                <a:ea typeface="맑은 고딕"/>
              </a:rPr>
              <a:t>· 청년농: 인수 자금·정책자금·체크리스트 관점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5E6A61"/>
                </a:solidFill>
                <a:latin typeface="맑은 고딕"/>
                <a:ea typeface="맑은 고딕"/>
              </a:rPr>
              <a:t>· 농장 수 × 관점 수 — 사람이 못 쓰는 규모의 개인화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“AI를 어디에 안 썼는지가 저희의 설계입니다”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기술성 · 완성도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시제품이 아니라, 운영 중인 서비스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pic>
        <p:nvPicPr>
          <p:cNvPr id="8" name="Picture 7" descr="arch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492240" cy="43108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9480" y="1600200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728216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15351F"/>
                </a:solidFill>
                <a:latin typeface="맑은 고딕"/>
                <a:ea typeface="맑은 고딕"/>
              </a:rPr>
              <a:t>pytest 55개 통과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산식은 formula.md 예시 케이스로 TDD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679191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807207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15351F"/>
                </a:solidFill>
                <a:latin typeface="맑은 고딕"/>
                <a:ea typeface="맑은 고딕"/>
              </a:rPr>
              <a:t>신뢰등급 A~D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자료를 낼수록 정밀해지는 단계적 평가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758183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3886199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15351F"/>
                </a:solidFill>
                <a:latin typeface="맑은 고딕"/>
                <a:ea typeface="맑은 고딕"/>
              </a:rPr>
              <a:t>전 외부 API 정적 폴백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데모가 죽지 않는 신뢰성 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4837176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965192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15351F"/>
                </a:solidFill>
                <a:latin typeface="맑은 고딕"/>
                <a:ea typeface="맑은 고딕"/>
              </a:rPr>
              <a:t>V-World 차단 → 국내 프록시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공공데이터 국외반출 제약 실전 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9AA49B"/>
                </a:solidFill>
                <a:latin typeface="맑은 고딕"/>
                <a:ea typeface="맑은 고딕"/>
              </a:rPr>
              <a:t>Vercel · Railway · Supabase(PostGIS) — production 운영 중 · farmbaton.vercel.app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독창성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국내에 없던 '승계 특화' 가치평가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8311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240280"/>
                <a:gridCol w="2240280"/>
                <a:gridCol w="2240280"/>
                <a:gridCol w="272491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감정평가·중개</a:t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부동산 플랫폼</a:t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농지은행</a:t>
                      </a:r>
                    </a:p>
                  </a:txBody>
                  <a:tcPr anchor="ctr">
                    <a:solidFill>
                      <a:srgbClr val="1535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팜바톤</a:t>
                      </a:r>
                    </a:p>
                  </a:txBody>
                  <a:tcPr anchor="ctr">
                    <a:solidFill>
                      <a:srgbClr val="1F804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평가 대상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토지·건물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토지·건물(범용)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농지만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농장 전체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(농지+작목+시설+판로)</a:t>
                      </a:r>
                    </a:p>
                  </a:txBody>
                  <a:tcPr anchor="ctr" marL="91440" marR="91440">
                    <a:solidFill>
                      <a:srgbClr val="E3F2E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가치 산정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감정평가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(수십만 원·수일)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실거래 조회·AVM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공시지가·호가 수준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공공데이터 결정론 산식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즉시·무료 + 신뢰등급</a:t>
                      </a:r>
                    </a:p>
                  </a:txBody>
                  <a:tcPr anchor="ctr" marL="91440" marR="91440">
                    <a:solidFill>
                      <a:srgbClr val="E3F2E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승계 매칭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농지 한정 제도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6요인 양면 매칭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(자본·정책자금 반영)</a:t>
                      </a:r>
                    </a:p>
                  </a:txBody>
                  <a:tcPr anchor="ctr" marL="91440" marR="91440">
                    <a:solidFill>
                      <a:srgbClr val="E3F2E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A44"/>
                          </a:solidFill>
                          <a:latin typeface="맑은 고딕"/>
                          <a:ea typeface="맑은 고딕"/>
                        </a:rPr>
                        <a:t>당사자 연결</a:t>
                      </a:r>
                    </a:p>
                  </a:txBody>
                  <a:tcPr anchor="ctr" marL="91440" marR="91440">
                    <a:solidFill>
                      <a:srgbClr val="EE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대면·전화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매물 게시형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E6A61"/>
                          </a:solidFill>
                          <a:latin typeface="맑은 고딕"/>
                          <a:ea typeface="맑은 고딕"/>
                        </a:rPr>
                        <a:t>매물 게시형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8047"/>
                          </a:solidFill>
                          <a:latin typeface="맑은 고딕"/>
                          <a:ea typeface="맑은 고딕"/>
                        </a:rPr>
                        <a:t>인앱 상담 → 채팅</a:t>
                      </a:r>
                    </a:p>
                  </a:txBody>
                  <a:tcPr anchor="ctr" marL="91440" marR="91440">
                    <a:solidFill>
                      <a:srgbClr val="E3F2E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11183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5351F"/>
                </a:solidFill>
                <a:latin typeface="맑은 고딕"/>
                <a:ea typeface="맑은 고딕"/>
              </a:rPr>
              <a:t>수령계수 × 시설 잔존가 × 영업권의 결합</a:t>
            </a:r>
            <a:r>
              <a:rPr sz="1300" b="0">
                <a:solidFill>
                  <a:srgbClr val="5E6A61"/>
                </a:solidFill>
                <a:latin typeface="맑은 고딕"/>
                <a:ea typeface="맑은 고딕"/>
              </a:rPr>
              <a:t> + 평가→매칭 파이프라인 — 확인된 범위에서 유사 사례를 찾지 못했습니다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발전 가능성 —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49만 가구가 기다리는 시장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669280" cy="1005840"/>
          </a:xfrm>
          <a:prstGeom prst="roundRect">
            <a:avLst>
              <a:gd name="adj" fmla="val 14000"/>
            </a:avLst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9384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49만 가구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후계 연결이 필요한 70세 이상 경영주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017520"/>
            <a:ext cx="4480560" cy="1005840"/>
          </a:xfrm>
          <a:prstGeom prst="roundRect">
            <a:avLst>
              <a:gd name="adj" fmla="val 14000"/>
            </a:avLst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638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3개 도 48개 시군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충북·경북·충남 · 과수 3작목 (시작점)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51960"/>
            <a:ext cx="3291840" cy="1005840"/>
          </a:xfrm>
          <a:prstGeom prst="roundRect">
            <a:avLst>
              <a:gd name="adj" fmla="val 14000"/>
            </a:avLst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398264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700" b="1">
                <a:solidFill>
                  <a:srgbClr val="15351F"/>
                </a:solidFill>
                <a:latin typeface="맑은 고딕"/>
                <a:ea typeface="맑은 고딕"/>
              </a:rPr>
              <a:t>MVP 검증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15351F"/>
                </a:solidFill>
                <a:latin typeface="맑은 고딕"/>
                <a:ea typeface="맑은 고딕"/>
              </a:rPr>
              <a:t>초기 타깃 — 승계 희망 등록 농가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783080"/>
            <a:ext cx="48463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103120"/>
            <a:ext cx="4206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5351F"/>
                </a:solidFill>
                <a:latin typeface="맑은 고딕"/>
                <a:ea typeface="맑은 고딕"/>
              </a:rPr>
              <a:t>승계 검토의 진입장벽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E6A61"/>
                </a:solidFill>
                <a:latin typeface="맑은 고딕"/>
                <a:ea typeface="맑은 고딕"/>
              </a:rPr>
              <a:t>지금:  감정평가 수십만 원 · 수일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6241B"/>
                </a:solidFill>
                <a:latin typeface="맑은 고딕"/>
                <a:ea typeface="맑은 고딕"/>
              </a:rPr>
              <a:t>팜바톤:  </a:t>
            </a:r>
            <a:r>
              <a:rPr sz="2200" b="1">
                <a:solidFill>
                  <a:srgbClr val="1F8047"/>
                </a:solidFill>
                <a:latin typeface="맑은 고딕"/>
                <a:ea typeface="맑은 고딕"/>
              </a:rPr>
              <a:t>무료 · 수십 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E6A61"/>
                </a:solidFill>
                <a:latin typeface="맑은 고딕"/>
                <a:ea typeface="맑은 고딕"/>
              </a:rPr>
              <a:t>문턱이 낮아지면 검토가 늘고,
검토 하나하나가 매칭 풀이 됩니다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발전 가능성 — 매출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매출이 발생하는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645920"/>
            <a:ext cx="5065776" cy="57150"/>
          </a:xfrm>
          <a:prstGeom prst="rect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92224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51F"/>
                </a:solidFill>
                <a:latin typeface="맑은 고딕"/>
                <a:ea typeface="맑은 고딕"/>
              </a:rPr>
              <a:t>1단계 — B2G 지자체 구독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승계 모니터링 대시보드 (발굴·보고·집행)
3개 도 48개 시군이 1차 시장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2880360"/>
            <a:ext cx="5065776" cy="57150"/>
          </a:xfrm>
          <a:prstGeom prst="rect">
            <a:avLst/>
          </a:prstGeom>
          <a:solidFill>
            <a:srgbClr val="7A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26664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51F"/>
                </a:solidFill>
                <a:latin typeface="맑은 고딕"/>
                <a:ea typeface="맑은 고딕"/>
              </a:rPr>
              <a:t>2단계 — 성사 성공보수 · 중개사 멤버십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거래는 제휴 공인중개사가 수행,
팜바톤은 플랫폼 연계 대가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" y="4114800"/>
            <a:ext cx="5065776" cy="571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61104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51F"/>
                </a:solidFill>
                <a:latin typeface="맑은 고딕"/>
                <a:ea typeface="맑은 고딕"/>
              </a:rPr>
              <a:t>상시 — 정밀 리포트 · 제휴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>
                <a:solidFill>
                  <a:srgbClr val="5E6A61"/>
                </a:solidFill>
                <a:latin typeface="맑은 고딕"/>
                <a:ea typeface="맑은 고딕"/>
              </a:rPr>
              <a:t>실사 연계 A·B등급 리포트(유료) ·
정책자금·보험·자재 제휴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40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개인(농장주·청년농)은 무료 — 매칭 풀이 플랫폼의 생명</a:t>
            </a:r>
          </a:p>
        </p:txBody>
      </p:sp>
      <p:pic>
        <p:nvPicPr>
          <p:cNvPr id="18" name="Picture 17" descr="slide11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760720" cy="32404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80760" y="4959477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지자체 구독 대시보드 — 콘셉트 목업(예시 데이터)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79008"/>
            <a:ext cx="11183112" cy="566928"/>
          </a:xfrm>
          <a:prstGeom prst="roundRect">
            <a:avLst>
              <a:gd name="adj" fmla="val 12000"/>
            </a:avLst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3개 도 과수원 실거래 5,122건 · 중앙값 5,958만 원</a:t>
            </a:r>
            <a:r>
              <a:rPr sz="1200" b="0">
                <a:solidFill>
                  <a:srgbClr val="CDD8CF"/>
                </a:solidFill>
                <a:latin typeface="맑은 고딕"/>
                <a:ea typeface="맑은 고딕"/>
              </a:rPr>
              <a:t>  — 저희 DB에서 실측한 숫자입니다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F8047"/>
                </a:solidFill>
                <a:latin typeface="맑은 고딕"/>
                <a:ea typeface="맑은 고딕"/>
              </a:rPr>
              <a:t>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900" b="1">
                <a:solidFill>
                  <a:srgbClr val="15351F"/>
                </a:solidFill>
                <a:latin typeface="맑은 고딕"/>
                <a:ea typeface="맑은 고딕"/>
              </a:rPr>
              <a:t>개발 + 디자인 + 농업 도메인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777240" cy="444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AA49B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9AA49B"/>
                </a:solidFill>
                <a:latin typeface="맑은 고딕"/>
                <a:ea typeface="맑은 고딕"/>
              </a:rPr>
              <a:t>팜바톤 FarmBaton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920240"/>
            <a:ext cx="3191256" cy="57150"/>
          </a:xfrm>
          <a:prstGeom prst="rect">
            <a:avLst/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5351F"/>
                </a:solidFill>
                <a:latin typeface="맑은 고딕"/>
                <a:ea typeface="맑은 고딕"/>
              </a:rPr>
              <a:t>김정훈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1F8047"/>
                </a:solidFill>
                <a:latin typeface="맑은 고딕"/>
                <a:ea typeface="맑은 고딕"/>
              </a:rPr>
              <a:t>대표 · 컴퓨터공학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6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E6A61"/>
                </a:solidFill>
                <a:latin typeface="맑은 고딕"/>
                <a:ea typeface="맑은 고딕"/>
              </a:rPr>
              <a:t>기획·풀스택 총괄
공공데이터 적재 · 가치평가·매칭 엔진 · 배포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1920240"/>
            <a:ext cx="3191256" cy="57150"/>
          </a:xfrm>
          <a:prstGeom prst="rect">
            <a:avLst/>
          </a:prstGeom>
          <a:solidFill>
            <a:srgbClr val="2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7744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5351F"/>
                </a:solidFill>
                <a:latin typeface="맑은 고딕"/>
                <a:ea typeface="맑은 고딕"/>
              </a:rPr>
              <a:t>윤채원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1F8047"/>
                </a:solidFill>
                <a:latin typeface="맑은 고딕"/>
                <a:ea typeface="맑은 고딕"/>
              </a:rPr>
              <a:t>컴퓨터공학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6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E6A61"/>
                </a:solidFill>
                <a:latin typeface="맑은 고딕"/>
                <a:ea typeface="맑은 고딕"/>
              </a:rPr>
              <a:t>UI/UX 디자인 · 사용성 검토
모바일 퍼스트 화면 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4192" y="1920240"/>
            <a:ext cx="3191256" cy="57150"/>
          </a:xfrm>
          <a:prstGeom prst="rect">
            <a:avLst/>
          </a:prstGeom>
          <a:solidFill>
            <a:srgbClr val="A8C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37744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5351F"/>
                </a:solidFill>
                <a:latin typeface="맑은 고딕"/>
                <a:ea typeface="맑은 고딕"/>
              </a:rPr>
              <a:t>유수민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1F8047"/>
                </a:solidFill>
                <a:latin typeface="맑은 고딕"/>
                <a:ea typeface="맑은 고딕"/>
              </a:rPr>
              <a:t>농업 계열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600" b="0">
                <a:solidFill>
                  <a:srgbClr val="16241B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E6A61"/>
                </a:solidFill>
                <a:latin typeface="맑은 고딕"/>
                <a:ea typeface="맑은 고딕"/>
              </a:rPr>
              <a:t>농업 도메인 자문
승계 현장 이해 · 작목·시설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E6A61"/>
                </a:solidFill>
                <a:latin typeface="맑은 고딕"/>
                <a:ea typeface="맑은 고딕"/>
              </a:rPr>
              <a:t>기술과 농업 현장 이해를 모두 갖춘 상호 보완 3인 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CDD8CF"/>
                </a:solidFill>
                <a:latin typeface="맑은 고딕"/>
                <a:ea typeface="맑은 고딕"/>
              </a:rPr>
              <a:t>승계 검토의 진입장벽을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수일 · 수십만 원</a:t>
            </a:r>
            <a:r>
              <a:rPr sz="3400" b="1">
                <a:solidFill>
                  <a:srgbClr val="9AA49B"/>
                </a:solidFill>
                <a:latin typeface="맑은 고딕"/>
                <a:ea typeface="맑은 고딕"/>
              </a:rPr>
              <a:t>  →  </a:t>
            </a:r>
            <a:r>
              <a:rPr sz="4400" b="1">
                <a:solidFill>
                  <a:srgbClr val="A8C66C"/>
                </a:solidFill>
                <a:latin typeface="맑은 고딕"/>
                <a:ea typeface="맑은 고딕"/>
              </a:rPr>
              <a:t>무료 · 수십 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CDD8CF"/>
                </a:solidFill>
                <a:latin typeface="맑은 고딕"/>
                <a:ea typeface="맑은 고딕"/>
              </a:rPr>
              <a:t>사라지던 농장을 데이터로 다음 세대에 잇겠습니다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23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6817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farmbaton.vercel.app</a:t>
            </a:r>
            <a:r>
              <a:rPr sz="1200" b="0">
                <a:solidFill>
                  <a:srgbClr val="CDD8CF"/>
                </a:solidFill>
                <a:latin typeface="맑은 고딕"/>
                <a:ea typeface="맑은 고딕"/>
              </a:rPr>
              <a:t>  — 지금 접속해 보세요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04120" y="443484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26280"/>
            <a:ext cx="123444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49B"/>
                </a:solidFill>
                <a:latin typeface="맑은 고딕"/>
                <a:ea typeface="맑은 고딕"/>
              </a:rPr>
              <a:t>감사합니다 · 팜바톤  김정훈 · 윤채원 · 유수민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