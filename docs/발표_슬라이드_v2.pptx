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28FF84-1826-4316-899F-0FCC2DB1AF49}" v="1" dt="2026-07-20T05:01:48.5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36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훈 김" userId="8946d34ccb923bcb" providerId="LiveId" clId="{030E730C-2472-468F-A7BA-DEDB46A15DA6}"/>
    <pc:docChg chg="addSld delSld modSld">
      <pc:chgData name="정훈 김" userId="8946d34ccb923bcb" providerId="LiveId" clId="{030E730C-2472-468F-A7BA-DEDB46A15DA6}" dt="2026-07-20T05:01:55.017" v="1" actId="47"/>
      <pc:docMkLst>
        <pc:docMk/>
      </pc:docMkLst>
      <pc:sldChg chg="del">
        <pc:chgData name="정훈 김" userId="8946d34ccb923bcb" providerId="LiveId" clId="{030E730C-2472-468F-A7BA-DEDB46A15DA6}" dt="2026-07-20T05:01:55.017" v="1" actId="47"/>
        <pc:sldMkLst>
          <pc:docMk/>
          <pc:sldMk cId="0" sldId="265"/>
        </pc:sldMkLst>
      </pc:sldChg>
      <pc:sldChg chg="add">
        <pc:chgData name="정훈 김" userId="8946d34ccb923bcb" providerId="LiveId" clId="{030E730C-2472-468F-A7BA-DEDB46A15DA6}" dt="2026-07-20T05:01:48.533" v="0"/>
        <pc:sldMkLst>
          <pc:docMk/>
          <pc:sldMk cId="0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spc="220">
                <a:solidFill>
                  <a:srgbClr val="A8C66C"/>
                </a:solidFill>
                <a:latin typeface="Pretendard Medium"/>
                <a:ea typeface="Pretendard Medium"/>
              </a:rPr>
              <a:t>제11회 농업·농촌 공공데이터 + AI 활용 창업경진대회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95528" y="1060704"/>
            <a:ext cx="2926080" cy="0"/>
          </a:xfrm>
          <a:prstGeom prst="bentConnector3">
            <a:avLst/>
          </a:prstGeom>
          <a:ln w="12700">
            <a:solidFill>
              <a:srgbClr val="2C47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2103120"/>
            <a:ext cx="100584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600" b="0" spc="-200">
                <a:solidFill>
                  <a:srgbClr val="FFFFFF"/>
                </a:solidFill>
                <a:latin typeface="Pretendard Black"/>
                <a:ea typeface="Pretendard Black"/>
              </a:rPr>
              <a:t>팜바톤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6732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spc="400">
                <a:solidFill>
                  <a:srgbClr val="C9D6CC"/>
                </a:solidFill>
                <a:latin typeface="Pretendard Medium"/>
                <a:ea typeface="Pretendard Medium"/>
              </a:rPr>
              <a:t>FarmBaton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46817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spc="-50">
                <a:solidFill>
                  <a:srgbClr val="FFFFFF"/>
                </a:solidFill>
                <a:latin typeface="Pretendard ExtraBold"/>
                <a:ea typeface="Pretendard ExtraBold"/>
              </a:rPr>
              <a:t>떠나는 농장과 시작하는 청년을 </a:t>
            </a:r>
            <a:r>
              <a:rPr sz="2700" b="0" spc="-50">
                <a:solidFill>
                  <a:srgbClr val="A8C66C"/>
                </a:solidFill>
                <a:latin typeface="Pretendard Black"/>
                <a:ea typeface="Pretendard Black"/>
              </a:rPr>
              <a:t>잇다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95528" y="5943600"/>
            <a:ext cx="10607040" cy="0"/>
          </a:xfrm>
          <a:prstGeom prst="bentConnector3">
            <a:avLst/>
          </a:prstGeom>
          <a:ln w="12700">
            <a:solidFill>
              <a:srgbClr val="2C47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77240" y="6117336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6110021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13301C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614476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spc="0">
                <a:solidFill>
                  <a:srgbClr val="FFFFFF"/>
                </a:solidFill>
                <a:latin typeface="Pretendard SemiBold"/>
                <a:ea typeface="Pretendard SemiBold"/>
              </a:rPr>
              <a:t>farmbaton.vercel.app</a:t>
            </a:r>
            <a:r>
              <a:rPr sz="1250" b="0" spc="0">
                <a:solidFill>
                  <a:srgbClr val="8FA595"/>
                </a:solidFill>
                <a:latin typeface="Pretendard"/>
                <a:ea typeface="Pretendard"/>
              </a:rPr>
              <a:t>   지금 접속하면 실제로 동작합니다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144768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50" b="0" spc="50">
                <a:solidFill>
                  <a:srgbClr val="8FA595"/>
                </a:solidFill>
                <a:latin typeface="Pretendard Medium"/>
                <a:ea typeface="Pretendard Medium"/>
              </a:rPr>
              <a:t>김정훈 · 윤채원 · 유수민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주제 시의성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농장은 멈추는데, 이어받을 통로가 없다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3520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400" b="0" spc="-200">
                <a:solidFill>
                  <a:srgbClr val="13301C"/>
                </a:solidFill>
                <a:latin typeface="Pretendard Black"/>
                <a:ea typeface="Pretendard Black"/>
              </a:rPr>
              <a:t>51.3</a:t>
            </a:r>
            <a:r>
              <a:rPr sz="2200" b="0" spc="0">
                <a:solidFill>
                  <a:srgbClr val="66706A"/>
                </a:solidFill>
                <a:latin typeface="Pretendard Medium"/>
                <a:ea typeface="Pretendard Medium"/>
              </a:rPr>
              <a:t>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913632"/>
            <a:ext cx="2194560" cy="0"/>
          </a:xfrm>
          <a:prstGeom prst="bentConnector3">
            <a:avLst/>
          </a:prstGeom>
          <a:ln w="31750">
            <a:solidFill>
              <a:srgbClr val="1330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4069080"/>
            <a:ext cx="3520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65세 이상 농가인구 비율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128만 6천 명 · 전체 인구의 2.5배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66260" y="2578608"/>
            <a:ext cx="0" cy="214884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434840" y="2468880"/>
            <a:ext cx="3520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400" b="0" spc="-200">
                <a:solidFill>
                  <a:srgbClr val="13301C"/>
                </a:solidFill>
                <a:latin typeface="Pretendard Black"/>
                <a:ea typeface="Pretendard Black"/>
              </a:rPr>
              <a:t>54.8</a:t>
            </a:r>
            <a:r>
              <a:rPr sz="2200" b="0" spc="0">
                <a:solidFill>
                  <a:srgbClr val="66706A"/>
                </a:solidFill>
                <a:latin typeface="Pretendard Medium"/>
                <a:ea typeface="Pretendard Medium"/>
              </a:rPr>
              <a:t>만 가구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80560" y="3913632"/>
            <a:ext cx="2194560" cy="0"/>
          </a:xfrm>
          <a:prstGeom prst="bentConnector3">
            <a:avLst/>
          </a:prstGeom>
          <a:ln w="31750">
            <a:solidFill>
              <a:srgbClr val="1330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34840" y="4069080"/>
            <a:ext cx="3520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70세 이상 경영주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전체 경영주의 44.1%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23860" y="2578608"/>
            <a:ext cx="0" cy="214884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92440" y="2468880"/>
            <a:ext cx="3520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400" b="0" spc="-200">
                <a:solidFill>
                  <a:srgbClr val="C26B2E"/>
                </a:solidFill>
                <a:latin typeface="Pretendard Black"/>
                <a:ea typeface="Pretendard Black"/>
              </a:rPr>
              <a:t>1.1</a:t>
            </a:r>
            <a:r>
              <a:rPr sz="2200" b="0" spc="0">
                <a:solidFill>
                  <a:srgbClr val="66706A"/>
                </a:solidFill>
                <a:latin typeface="Pretendard Medium"/>
                <a:ea typeface="Pretendard Medium"/>
              </a:rPr>
              <a:t>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38160" y="3913632"/>
            <a:ext cx="2194560" cy="0"/>
          </a:xfrm>
          <a:prstGeom prst="bentConnector3">
            <a:avLst/>
          </a:prstGeom>
          <a:ln w="31750">
            <a:solidFill>
              <a:srgbClr val="C26B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92440" y="4069080"/>
            <a:ext cx="3520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40세 미만 청년 경영주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1만 4천 가구 · 100명 중 1명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5596128"/>
            <a:ext cx="10634472" cy="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8952" y="5815584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0" spc="-30">
                <a:solidFill>
                  <a:srgbClr val="1B241D"/>
                </a:solidFill>
                <a:latin typeface="Pretendard Medium"/>
                <a:ea typeface="Pretendard Medium"/>
              </a:rPr>
              <a:t>수십만 농가가 은퇴를 앞두고 있지만 — </a:t>
            </a:r>
            <a:r>
              <a:rPr sz="1900" b="0" spc="-30">
                <a:solidFill>
                  <a:srgbClr val="2E9E57"/>
                </a:solidFill>
                <a:latin typeface="Pretendard ExtraBold"/>
                <a:ea typeface="Pretendard ExtraBold"/>
              </a:rPr>
              <a:t>청년농과 만날 통로가 없습니다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1996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spc="50">
                <a:solidFill>
                  <a:srgbClr val="9AA49B"/>
                </a:solidFill>
                <a:latin typeface="Pretendard"/>
                <a:ea typeface="Pretendard"/>
              </a:rPr>
              <a:t>통계청 2025 농림어업총조사(잠정) · 2026.4 발표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기존 대안의 공백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기존 수단은 ‘농장’을 통째로 다루지 못한다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212140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 Medium"/>
                <a:ea typeface="Pretendard Medium"/>
              </a:rPr>
              <a:t>감정평가·중개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12140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 Medium"/>
                <a:ea typeface="Pretendard Medium"/>
              </a:rPr>
              <a:t>부동산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212140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 Medium"/>
                <a:ea typeface="Pretendard Medium"/>
              </a:rPr>
              <a:t>농지은행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62872" y="212140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spc="0">
                <a:solidFill>
                  <a:srgbClr val="66706A"/>
                </a:solidFill>
                <a:latin typeface="Pretendard ExtraBold"/>
                <a:ea typeface="Pretendard ExtraBold"/>
              </a:rPr>
              <a:t>팜바톤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615184"/>
            <a:ext cx="10634472" cy="0"/>
          </a:xfrm>
          <a:prstGeom prst="bentConnector3">
            <a:avLst/>
          </a:prstGeom>
          <a:ln w="19050">
            <a:solidFill>
              <a:srgbClr val="1B241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852928"/>
            <a:ext cx="18288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평가 대상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852928"/>
            <a:ext cx="23317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토지·건물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852928"/>
            <a:ext cx="23317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토지·건물(범용)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852928"/>
            <a:ext cx="23317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농지만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2852928"/>
            <a:ext cx="2148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spc="0">
                <a:solidFill>
                  <a:srgbClr val="9AA49B"/>
                </a:solidFill>
                <a:latin typeface="Pretendard"/>
                <a:ea typeface="Pretendard"/>
              </a:rPr>
              <a:t>·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3602736"/>
            <a:ext cx="106344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3602736"/>
            <a:ext cx="18288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가치 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602736"/>
            <a:ext cx="23317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감정평가 · 수일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602736"/>
            <a:ext cx="23317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실거래·AVM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602736"/>
            <a:ext cx="23317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공시지가·호가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3602736"/>
            <a:ext cx="2148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spc="0">
                <a:solidFill>
                  <a:srgbClr val="9AA49B"/>
                </a:solidFill>
                <a:latin typeface="Pretendard"/>
                <a:ea typeface="Pretendard"/>
              </a:rPr>
              <a:t>·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4352544"/>
            <a:ext cx="106344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4352544"/>
            <a:ext cx="18288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승계 매칭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352544"/>
            <a:ext cx="23317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9AA49B"/>
                </a:solidFill>
                <a:latin typeface="Pretendard"/>
                <a:ea typeface="Pretendard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352544"/>
            <a:ext cx="23317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9AA49B"/>
                </a:solidFill>
                <a:latin typeface="Pretendard"/>
                <a:ea typeface="Pretendard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4352544"/>
            <a:ext cx="23317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농지 한정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4352544"/>
            <a:ext cx="2148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spc="0">
                <a:solidFill>
                  <a:srgbClr val="9AA49B"/>
                </a:solidFill>
                <a:latin typeface="Pretendard"/>
                <a:ea typeface="Pretendard"/>
              </a:rPr>
              <a:t>·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7240" y="5102352"/>
            <a:ext cx="106344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7240" y="5102352"/>
            <a:ext cx="18288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당사자 연결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5102352"/>
            <a:ext cx="23317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대면·전화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102352"/>
            <a:ext cx="23317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매물 게시형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5102352"/>
            <a:ext cx="23317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매물 게시형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2872" y="5102352"/>
            <a:ext cx="2148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spc="0">
                <a:solidFill>
                  <a:srgbClr val="9AA49B"/>
                </a:solidFill>
                <a:latin typeface="Pretendard"/>
                <a:ea typeface="Pretendard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612648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spc="-30">
                <a:solidFill>
                  <a:srgbClr val="1B241D"/>
                </a:solidFill>
                <a:latin typeface="Pretendard ExtraBold"/>
                <a:ea typeface="Pretendard ExtraBold"/>
              </a:rPr>
              <a:t>농장 = 농지 + 작목 + 시설 + 판로</a:t>
            </a:r>
            <a:r>
              <a:rPr sz="1400" b="0" spc="0">
                <a:solidFill>
                  <a:srgbClr val="66706A"/>
                </a:solidFill>
                <a:latin typeface="Pretendard"/>
                <a:ea typeface="Pretendard"/>
              </a:rPr>
              <a:t>  이 전체를 평가하고 연결하는 통로가 비어 있습니다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솔루션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주소 하나로 시작하는 양면 플랫폼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98848" y="2331720"/>
            <a:ext cx="3200400" cy="1920240"/>
          </a:xfrm>
          <a:prstGeom prst="roundRect">
            <a:avLst>
              <a:gd name="adj" fmla="val 8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81728" y="2697480"/>
            <a:ext cx="2834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2400" b="0" spc="-50">
                <a:solidFill>
                  <a:srgbClr val="FFFFFF"/>
                </a:solidFill>
                <a:latin typeface="Pretendard Black"/>
                <a:ea typeface="Pretendard Black"/>
              </a:rPr>
              <a:t>팜바톤</a:t>
            </a:r>
          </a:p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300" b="0" spc="0">
                <a:solidFill>
                  <a:srgbClr val="A8C66C"/>
                </a:solidFill>
                <a:latin typeface="Pretendard SemiBold"/>
                <a:ea typeface="Pretendard SemiBold"/>
              </a:rPr>
              <a:t>진단 엔진 · 매칭 엔진</a:t>
            </a:r>
          </a:p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150" b="0" spc="0">
                <a:solidFill>
                  <a:srgbClr val="C9D6CC"/>
                </a:solidFill>
                <a:latin typeface="Pretendard"/>
                <a:ea typeface="Pretendard"/>
              </a:rPr>
              <a:t>공공데이터 7종 결합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3383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300"/>
              </a:spcAft>
            </a:pPr>
            <a:r>
              <a:rPr sz="2000" b="0" spc="0">
                <a:solidFill>
                  <a:srgbClr val="1B241D"/>
                </a:solidFill>
                <a:latin typeface="Pretendard ExtraBold"/>
                <a:ea typeface="Pretendard ExtraBold"/>
              </a:rPr>
              <a:t>농장주</a:t>
            </a:r>
          </a:p>
          <a:p>
            <a:pPr algn="r">
              <a:lnSpc>
                <a:spcPct val="130000"/>
              </a:lnSpc>
              <a:spcAft>
                <a:spcPts val="30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주소만 입력하면</a:t>
            </a:r>
          </a:p>
          <a:p>
            <a:pPr algn="r">
              <a:lnSpc>
                <a:spcPct val="130000"/>
              </a:lnSpc>
              <a:spcAft>
                <a:spcPts val="300"/>
              </a:spcAft>
            </a:pPr>
            <a:r>
              <a:rPr sz="1450" b="0" spc="0">
                <a:solidFill>
                  <a:srgbClr val="1F8047"/>
                </a:solidFill>
                <a:latin typeface="Pretendard SemiBold"/>
                <a:ea typeface="Pretendard SemiBold"/>
              </a:rPr>
              <a:t>인수 검토 리포트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743200"/>
            <a:ext cx="3383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2000" b="0" spc="0">
                <a:solidFill>
                  <a:srgbClr val="1B241D"/>
                </a:solidFill>
                <a:latin typeface="Pretendard ExtraBold"/>
                <a:ea typeface="Pretendard ExtraBold"/>
              </a:rPr>
              <a:t>청년농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조건만 입력하면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450" b="0" spc="0">
                <a:solidFill>
                  <a:srgbClr val="1F8047"/>
                </a:solidFill>
                <a:latin typeface="Pretendard SemiBold"/>
                <a:ea typeface="Pretendard SemiBold"/>
              </a:rPr>
              <a:t>매칭 리스트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31272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0" spc="0">
                <a:solidFill>
                  <a:srgbClr val="9AA49B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1272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0" spc="0">
                <a:solidFill>
                  <a:srgbClr val="9AA49B"/>
                </a:solidFill>
                <a:latin typeface="Pretendard"/>
                <a:ea typeface="Pretendard"/>
              </a:rPr>
              <a:t>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5029200"/>
            <a:ext cx="10634472" cy="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530352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 spc="0">
                <a:solidFill>
                  <a:srgbClr val="2E9E57"/>
                </a:solidFill>
                <a:latin typeface="Pretendard ExtraBold"/>
                <a:ea typeface="Pretendard ExtraBold"/>
              </a:rPr>
              <a:t>①  </a:t>
            </a: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농가 등록 → 인수 검토 리포트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00" b="0" spc="0">
                <a:solidFill>
                  <a:srgbClr val="66706A"/>
                </a:solidFill>
                <a:latin typeface="Pretendard"/>
                <a:ea typeface="Pretendard"/>
              </a:rPr>
              <a:t>주소 입력만으로 필지·가치 자동 산출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30352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 spc="0">
                <a:solidFill>
                  <a:srgbClr val="2E9E57"/>
                </a:solidFill>
                <a:latin typeface="Pretendard ExtraBold"/>
                <a:ea typeface="Pretendard ExtraBold"/>
              </a:rPr>
              <a:t>②  </a:t>
            </a: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청년농 프로필 → 매칭 리스트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00" b="0" spc="0">
                <a:solidFill>
                  <a:srgbClr val="66706A"/>
                </a:solidFill>
                <a:latin typeface="Pretendard"/>
                <a:ea typeface="Pretendard"/>
              </a:rPr>
              <a:t>6요인 점수순 추천 + 인앱 상담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라이브 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설명 대신, 직접 보여드리겠습니다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063240"/>
            <a:ext cx="9601200" cy="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283464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0" spc="0">
                <a:solidFill>
                  <a:srgbClr val="2E9E57"/>
                </a:solidFill>
                <a:latin typeface="Pretendard Black"/>
                <a:ea typeface="Pretendard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spc="-30">
                <a:solidFill>
                  <a:srgbClr val="1B241D"/>
                </a:solidFill>
                <a:latin typeface="Pretendard ExtraBold"/>
                <a:ea typeface="Pretendard ExtraBold"/>
              </a:rPr>
              <a:t>주소 입력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9768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0">
                <a:solidFill>
                  <a:srgbClr val="66706A"/>
                </a:solidFill>
                <a:latin typeface="Pretendard"/>
                <a:ea typeface="Pretendard"/>
              </a:rPr>
              <a:t>팜맵 필지 면적 자동 취득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83464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0" spc="0">
                <a:solidFill>
                  <a:srgbClr val="2E9E57"/>
                </a:solidFill>
                <a:latin typeface="Pretendard Black"/>
                <a:ea typeface="Pretendard Black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8862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spc="-30">
                <a:solidFill>
                  <a:srgbClr val="1B241D"/>
                </a:solidFill>
                <a:latin typeface="Pretendard ExtraBold"/>
                <a:ea typeface="Pretendard ExtraBold"/>
              </a:rPr>
              <a:t>검토 리포트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29768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0">
                <a:solidFill>
                  <a:srgbClr val="66706A"/>
                </a:solidFill>
                <a:latin typeface="Pretendard"/>
                <a:ea typeface="Pretendard"/>
              </a:rPr>
              <a:t>인수 검토가 범위 + 신뢰등급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83464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0" spc="0">
                <a:solidFill>
                  <a:srgbClr val="2E9E57"/>
                </a:solidFill>
                <a:latin typeface="Pretendard Black"/>
                <a:ea typeface="Pretendard Black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8862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spc="-30">
                <a:solidFill>
                  <a:srgbClr val="1B241D"/>
                </a:solidFill>
                <a:latin typeface="Pretendard ExtraBold"/>
                <a:ea typeface="Pretendard ExtraBold"/>
              </a:rPr>
              <a:t>청년농 매칭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429768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0">
                <a:solidFill>
                  <a:srgbClr val="66706A"/>
                </a:solidFill>
                <a:latin typeface="Pretendard"/>
                <a:ea typeface="Pretendard"/>
              </a:rPr>
              <a:t>6요인 100점 점수순 추천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83464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0" spc="0">
                <a:solidFill>
                  <a:srgbClr val="2E9E57"/>
                </a:solidFill>
                <a:latin typeface="Pretendard Black"/>
                <a:ea typeface="Pretendard Black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8862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spc="-30">
                <a:solidFill>
                  <a:srgbClr val="1B241D"/>
                </a:solidFill>
                <a:latin typeface="Pretendard ExtraBold"/>
                <a:ea typeface="Pretendard ExtraBold"/>
              </a:rPr>
              <a:t>상담 · 채팅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29768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0">
                <a:solidFill>
                  <a:srgbClr val="66706A"/>
                </a:solidFill>
                <a:latin typeface="Pretendard"/>
                <a:ea typeface="Pretendard"/>
              </a:rPr>
              <a:t>수락 시 인앱 양방향 대화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5577840"/>
            <a:ext cx="10634472" cy="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58064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spc="0">
                <a:solidFill>
                  <a:srgbClr val="1F8047"/>
                </a:solidFill>
                <a:latin typeface="Pretendard SemiBold"/>
                <a:ea typeface="Pretendard SemiBold"/>
              </a:rPr>
              <a:t>farmbaton.vercel.app</a:t>
            </a: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   실서비스 라이브 · 백업 영상 준비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6@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AI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숫자는 알고리즘, 설명은 AI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9904" y="2148840"/>
            <a:ext cx="0" cy="251460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2148840"/>
            <a:ext cx="493776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000" b="0" spc="0">
                <a:solidFill>
                  <a:srgbClr val="1F8047"/>
                </a:solidFill>
                <a:latin typeface="Pretendard ExtraBold"/>
                <a:ea typeface="Pretendard ExtraBold"/>
              </a:rPr>
              <a:t>결정론 엔진</a:t>
            </a:r>
            <a:r>
              <a:rPr sz="1300" b="0" spc="0">
                <a:solidFill>
                  <a:srgbClr val="66706A"/>
                </a:solidFill>
                <a:latin typeface="Pretendard Medium"/>
                <a:ea typeface="Pretendard Medium"/>
              </a:rPr>
              <a:t>  금액·점수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endParaRPr sz="1300" b="0" spc="0">
              <a:solidFill>
                <a:srgbClr val="66706A"/>
              </a:solidFill>
              <a:latin typeface="Pretendard Medium"/>
              <a:ea typeface="Pretendard Medium"/>
            </a:endParaRP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금액 계산에 LLM을 쓰지 않습니다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100% 결정론 Python 산식 · pytest 55개로 고정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같은 입력 → 같은 결과 · 추적·검증 가능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환각으로 인한 금액 오류 원천 차단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48840"/>
            <a:ext cx="484632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000" b="0" spc="0">
                <a:solidFill>
                  <a:srgbClr val="6F8F3A"/>
                </a:solidFill>
                <a:latin typeface="Pretendard ExtraBold"/>
                <a:ea typeface="Pretendard ExtraBold"/>
              </a:rPr>
              <a:t>생성형 AI</a:t>
            </a:r>
            <a:r>
              <a:rPr sz="1300" b="0" spc="0">
                <a:solidFill>
                  <a:srgbClr val="66706A"/>
                </a:solidFill>
                <a:latin typeface="Pretendard Medium"/>
                <a:ea typeface="Pretendard Medium"/>
              </a:rPr>
              <a:t>  설명 전담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endParaRPr sz="1300" b="0" spc="0">
              <a:solidFill>
                <a:srgbClr val="66706A"/>
              </a:solidFill>
              <a:latin typeface="Pretendard Medium"/>
              <a:ea typeface="Pretendard Medium"/>
            </a:endParaRP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같은 수치를 관점별 언어로 번역합니다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농장주: 매도 준비·시설 가치 관점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청년농: 인수 자금·정책자금·체크리스트 관점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농장 수 × 관점 수 — 사람이 못 쓰는 규모의 개인화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5212080"/>
            <a:ext cx="10634472" cy="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58952" y="553212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spc="-50">
                <a:solidFill>
                  <a:srgbClr val="1B241D"/>
                </a:solidFill>
                <a:latin typeface="Pretendard ExtraBold"/>
                <a:ea typeface="Pretendard ExtraBold"/>
              </a:rPr>
              <a:t>AI를 </a:t>
            </a:r>
            <a:r>
              <a:rPr sz="2600" b="0" spc="-50">
                <a:solidFill>
                  <a:srgbClr val="2E9E57"/>
                </a:solidFill>
                <a:latin typeface="Pretendard Black"/>
                <a:ea typeface="Pretendard Black"/>
              </a:rPr>
              <a:t>어디에 안 썼는지</a:t>
            </a:r>
            <a:r>
              <a:rPr sz="2600" b="0" spc="-50">
                <a:solidFill>
                  <a:srgbClr val="1B241D"/>
                </a:solidFill>
                <a:latin typeface="Pretendard ExtraBold"/>
                <a:ea typeface="Pretendard ExtraBold"/>
              </a:rPr>
              <a:t>가 저희의 설계입니다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기술성 · 완성도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시제품이 아니라, 운영 중인 서비스</a:t>
            </a:r>
          </a:p>
        </p:txBody>
      </p:sp>
      <p:pic>
        <p:nvPicPr>
          <p:cNvPr id="5" name="Picture 4" descr="arch@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6309360" cy="39118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2148840"/>
            <a:ext cx="40050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pytest 55개 통과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산식은 formula.md 예시 케이스로 TDD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06640" y="2898648"/>
            <a:ext cx="40050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06640" y="3081528"/>
            <a:ext cx="40050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신뢰등급 A~D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자료를 낼수록 정밀해지는 단계적 평가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06640" y="3831336"/>
            <a:ext cx="40050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06640" y="4014216"/>
            <a:ext cx="40050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전 외부 API 정적 폴백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데모가 죽지 않는 신뢰성 설계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06640" y="4764024"/>
            <a:ext cx="40050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06640" y="4946904"/>
            <a:ext cx="40050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V-World 차단 → 국내 프록시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공공데이터 국외반출 제약 실전 해결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172200"/>
            <a:ext cx="10634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spc="0">
                <a:solidFill>
                  <a:srgbClr val="9AA49B"/>
                </a:solidFill>
                <a:latin typeface="Pretendard"/>
                <a:ea typeface="Pretendard"/>
              </a:rPr>
              <a:t>Vercel · Railway · Supabase(PostGIS) — production 운영 중 · farmbaton.vercel.app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독창성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국내에 없던 ‘승계 특화’ 가치평가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61704" y="1965960"/>
            <a:ext cx="2350008" cy="3977639"/>
          </a:xfrm>
          <a:prstGeom prst="roundRect">
            <a:avLst>
              <a:gd name="adj" fmla="val 4000"/>
            </a:avLst>
          </a:prstGeom>
          <a:solidFill>
            <a:srgbClr val="EC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606040" y="212140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 Medium"/>
                <a:ea typeface="Pretendard Medium"/>
              </a:rPr>
              <a:t>감정평가·중개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12140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 Medium"/>
                <a:ea typeface="Pretendard Medium"/>
              </a:rPr>
              <a:t>부동산 플랫폼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12140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 Medium"/>
                <a:ea typeface="Pretendard Medium"/>
              </a:rPr>
              <a:t>농지은행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2872" y="212140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spc="0">
                <a:solidFill>
                  <a:srgbClr val="2E9E57"/>
                </a:solidFill>
                <a:latin typeface="Pretendard ExtraBold"/>
                <a:ea typeface="Pretendard ExtraBold"/>
              </a:rPr>
              <a:t>팜바톤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615184"/>
            <a:ext cx="10634472" cy="0"/>
          </a:xfrm>
          <a:prstGeom prst="bentConnector3">
            <a:avLst/>
          </a:prstGeom>
          <a:ln w="19050">
            <a:solidFill>
              <a:srgbClr val="1B241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2852928"/>
            <a:ext cx="18288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평가 대상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852928"/>
            <a:ext cx="23317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토지·건물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852928"/>
            <a:ext cx="23317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토지·건물(범용)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852928"/>
            <a:ext cx="23317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농지만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2872" y="2852928"/>
            <a:ext cx="2148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spc="0">
                <a:solidFill>
                  <a:srgbClr val="13301C"/>
                </a:solidFill>
                <a:latin typeface="Pretendard SemiBold"/>
                <a:ea typeface="Pretendard SemiBold"/>
              </a:rPr>
              <a:t>농장 전체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3602736"/>
            <a:ext cx="106344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3602736"/>
            <a:ext cx="18288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가치 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602736"/>
            <a:ext cx="23317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감정평가 · 수일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602736"/>
            <a:ext cx="23317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실거래·AVM 조회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602736"/>
            <a:ext cx="23317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공시지가·호가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3602736"/>
            <a:ext cx="2148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spc="0">
                <a:solidFill>
                  <a:srgbClr val="13301C"/>
                </a:solidFill>
                <a:latin typeface="Pretendard SemiBold"/>
                <a:ea typeface="Pretendard SemiBold"/>
              </a:rPr>
              <a:t>결정론 산식 · 무료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4352544"/>
            <a:ext cx="106344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4352544"/>
            <a:ext cx="18288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승계 매칭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352544"/>
            <a:ext cx="23317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9AA49B"/>
                </a:solidFill>
                <a:latin typeface="Pretendard"/>
                <a:ea typeface="Pretendard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352544"/>
            <a:ext cx="23317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9AA49B"/>
                </a:solidFill>
                <a:latin typeface="Pretendard"/>
                <a:ea typeface="Pretendard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352544"/>
            <a:ext cx="23317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농지 한정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4352544"/>
            <a:ext cx="2148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spc="0">
                <a:solidFill>
                  <a:srgbClr val="13301C"/>
                </a:solidFill>
                <a:latin typeface="Pretendard SemiBold"/>
                <a:ea typeface="Pretendard SemiBold"/>
              </a:rPr>
              <a:t>6요인 양면 매칭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7240" y="5102352"/>
            <a:ext cx="106344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5102352"/>
            <a:ext cx="18288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당사자 연결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5102352"/>
            <a:ext cx="23317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대면·전화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102352"/>
            <a:ext cx="23317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매물 게시형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5102352"/>
            <a:ext cx="23317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매물 게시형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5102352"/>
            <a:ext cx="2148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spc="0">
                <a:solidFill>
                  <a:srgbClr val="13301C"/>
                </a:solidFill>
                <a:latin typeface="Pretendard SemiBold"/>
                <a:ea typeface="Pretendard SemiBold"/>
              </a:rPr>
              <a:t>인앱 상담 → 채팅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61264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spc="-30">
                <a:solidFill>
                  <a:srgbClr val="1B241D"/>
                </a:solidFill>
                <a:latin typeface="Pretendard ExtraBold"/>
                <a:ea typeface="Pretendard ExtraBold"/>
              </a:rPr>
              <a:t>수령계수 × 시설 잔존가 × 영업권의 결합</a:t>
            </a: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  확인된 범위에서 유사 사례를 찾지 못했습니다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발전 가능성 · 시장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49만 가구가 기다리는 시장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5852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400" b="0" spc="-100">
                <a:solidFill>
                  <a:srgbClr val="13301C"/>
                </a:solidFill>
                <a:latin typeface="Pretendard Black"/>
                <a:ea typeface="Pretendard Black"/>
              </a:rPr>
              <a:t>49만 가구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후계 연결이 필요한 70세 이상 경영주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3273552"/>
            <a:ext cx="5760720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3429000"/>
            <a:ext cx="5852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200" b="0" spc="-100">
                <a:solidFill>
                  <a:srgbClr val="2E9E57"/>
                </a:solidFill>
                <a:latin typeface="Pretendard Black"/>
                <a:ea typeface="Pretendard Black"/>
              </a:rPr>
              <a:t>3개 도 48개 시군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충북·경북·충남 · 과수 3작목 (시작점)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4416552"/>
            <a:ext cx="5760720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4572000"/>
            <a:ext cx="5852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0" spc="-100">
                <a:solidFill>
                  <a:srgbClr val="A8C66C"/>
                </a:solidFill>
                <a:latin typeface="Pretendard Black"/>
                <a:ea typeface="Pretendard Black"/>
              </a:rPr>
              <a:t>MVP 검증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초기 타깃 — 승계 희망 등록 농가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0" y="2331720"/>
            <a:ext cx="0" cy="338328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0" y="251460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spc="0">
                <a:solidFill>
                  <a:srgbClr val="1B241D"/>
                </a:solidFill>
                <a:latin typeface="Pretendard SemiBold"/>
                <a:ea typeface="Pretendard SemiBold"/>
              </a:rPr>
              <a:t>승계 검토의 진입장벽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20040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 Medium"/>
                <a:ea typeface="Pretendard Medium"/>
              </a:rPr>
              <a:t>지금</a:t>
            </a:r>
            <a:r>
              <a:rPr sz="1400" b="0" spc="0">
                <a:solidFill>
                  <a:srgbClr val="66706A"/>
                </a:solidFill>
                <a:latin typeface="Pretendard"/>
                <a:ea typeface="Pretendard"/>
              </a:rPr>
              <a:t>   감정평가 수십만 원 · 수일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840480"/>
            <a:ext cx="4023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spc="0">
                <a:solidFill>
                  <a:srgbClr val="1F8047"/>
                </a:solidFill>
                <a:latin typeface="Pretendard Medium"/>
                <a:ea typeface="Pretendard Medium"/>
              </a:rPr>
              <a:t>팜바톤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0" spc="-100">
                <a:solidFill>
                  <a:srgbClr val="2E9E57"/>
                </a:solidFill>
                <a:latin typeface="Pretendard Black"/>
                <a:ea typeface="Pretendard Black"/>
              </a:rPr>
              <a:t>무료 · 수십 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02920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문턱이 낮아지면 검토가 늘고, 검토 하나하나가 매칭 풀이 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발전 가능성 · 매출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매출이 발생하는 경로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2E9E57"/>
                </a:solidFill>
                <a:latin typeface="Pretendard ExtraBold"/>
                <a:ea typeface="Pretendard ExtraBol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148840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B2G 지자체 구독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승계 모니터링 대시보드 · 3개 도 48개 시군 1차 시장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3044952"/>
            <a:ext cx="5120640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3172968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7A8A66"/>
                </a:solidFill>
                <a:latin typeface="Pretendard ExtraBold"/>
                <a:ea typeface="Pretendard ExtraBold"/>
              </a:rPr>
              <a:t>2단계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172968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성사 성공보수 · 중개사 멤버십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거래는 제휴 공인중개사, 팜바톤은 플랫폼 연계 대가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4069080"/>
            <a:ext cx="5120640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4197096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A8C66C"/>
                </a:solidFill>
                <a:latin typeface="Pretendard ExtraBold"/>
                <a:ea typeface="Pretendard ExtraBold"/>
              </a:rPr>
              <a:t>상시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197096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정밀 리포트 · 제휴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실사 연계 A·B등급 리포트(유료) · 정책자금·보험 제휴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5093208"/>
            <a:ext cx="5120640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53492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1F8047"/>
                </a:solidFill>
                <a:latin typeface="Pretendard SemiBold"/>
                <a:ea typeface="Pretendard SemiBold"/>
              </a:rPr>
              <a:t>개인(농장주·청년농)은 무료</a:t>
            </a:r>
            <a:r>
              <a:rPr sz="1200" b="0" spc="0">
                <a:solidFill>
                  <a:srgbClr val="66706A"/>
                </a:solidFill>
                <a:latin typeface="Pretendard"/>
                <a:ea typeface="Pretendard"/>
              </a:rPr>
              <a:t> — 매칭 풀이 플랫폼의 생명</a:t>
            </a:r>
          </a:p>
        </p:txBody>
      </p:sp>
      <p:pic>
        <p:nvPicPr>
          <p:cNvPr id="15" name="Picture 14" descr="slide11@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103120"/>
            <a:ext cx="5806440" cy="326612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35040" y="5424106"/>
            <a:ext cx="5806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"/>
                <a:ea typeface="Pretendard"/>
              </a:rPr>
              <a:t>지자체 구독 대시보드 — 콘셉트 목업(예시 데이터)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5852160"/>
            <a:ext cx="10634472" cy="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8952" y="6053328"/>
            <a:ext cx="10634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spc="-30">
                <a:solidFill>
                  <a:srgbClr val="1B241D"/>
                </a:solidFill>
                <a:latin typeface="Pretendard ExtraBold"/>
                <a:ea typeface="Pretendard ExtraBold"/>
              </a:rPr>
              <a:t>3개 도 과수원 실거래 5,122건 · 중앙값 5,958만 원</a:t>
            </a: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   저희 DB에서 실측한 숫자입니다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개발 + 디자인 + 농업 도메인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0" spc="-50">
                <a:solidFill>
                  <a:srgbClr val="13301C"/>
                </a:solidFill>
                <a:latin typeface="Pretendard Black"/>
                <a:ea typeface="Pretendard Black"/>
              </a:rPr>
              <a:t>김정훈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37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30">
                <a:solidFill>
                  <a:srgbClr val="1F8047"/>
                </a:solidFill>
                <a:latin typeface="Pretendard SemiBold"/>
                <a:ea typeface="Pretendard SemiBold"/>
              </a:rPr>
              <a:t>대표 · 컴퓨터공학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기획·풀스택 개발 총괄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공공데이터 적재 · 가치평가·매칭 엔진 · 배포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0" y="2560320"/>
            <a:ext cx="0" cy="210312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43400" y="251460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0" spc="-50">
                <a:solidFill>
                  <a:srgbClr val="13301C"/>
                </a:solidFill>
                <a:latin typeface="Pretendard Black"/>
                <a:ea typeface="Pretendard Black"/>
              </a:rPr>
              <a:t>윤채원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3337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30">
                <a:solidFill>
                  <a:srgbClr val="1F8047"/>
                </a:solidFill>
                <a:latin typeface="Pretendard SemiBold"/>
                <a:ea typeface="Pretendard SemiBold"/>
              </a:rPr>
              <a:t>컴퓨터공학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84048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UI/UX 디자인 · 사용성 검토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모바일 퍼스트 화면 설계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80960" y="2560320"/>
            <a:ext cx="0" cy="210312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09560" y="251460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0" spc="-50">
                <a:solidFill>
                  <a:srgbClr val="13301C"/>
                </a:solidFill>
                <a:latin typeface="Pretendard Black"/>
                <a:ea typeface="Pretendard Black"/>
              </a:rPr>
              <a:t>유수민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337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30">
                <a:solidFill>
                  <a:srgbClr val="1F8047"/>
                </a:solidFill>
                <a:latin typeface="Pretendard SemiBold"/>
                <a:ea typeface="Pretendard SemiBold"/>
              </a:rPr>
              <a:t>농업 계열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84048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농업 도메인 자문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승계 현장 이해 · 작목·시설 검증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spc="-30">
                <a:solidFill>
                  <a:srgbClr val="C9D6CC"/>
                </a:solidFill>
                <a:latin typeface="Pretendard SemiBold"/>
                <a:ea typeface="Pretendard SemiBold"/>
              </a:rPr>
              <a:t>승계 검토의 진입장벽을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37744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0" spc="-100">
                <a:solidFill>
                  <a:srgbClr val="FFFFFF"/>
                </a:solidFill>
                <a:latin typeface="Pretendard ExtraBold"/>
                <a:ea typeface="Pretendard ExtraBold"/>
              </a:rPr>
              <a:t>수일 · 수십만 원</a:t>
            </a:r>
            <a:r>
              <a:rPr sz="3000" b="0" spc="0">
                <a:solidFill>
                  <a:srgbClr val="5A6E60"/>
                </a:solidFill>
                <a:latin typeface="Pretendard Medium"/>
                <a:ea typeface="Pretendard Medium"/>
              </a:rPr>
              <a:t>   →   </a:t>
            </a:r>
            <a:r>
              <a:rPr sz="4600" b="0" spc="-150">
                <a:solidFill>
                  <a:srgbClr val="A8C66C"/>
                </a:solidFill>
                <a:latin typeface="Pretendard Black"/>
                <a:ea typeface="Pretendard Black"/>
              </a:rPr>
              <a:t>무료 · 수십 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37033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spc="0">
                <a:solidFill>
                  <a:srgbClr val="C9D6CC"/>
                </a:solidFill>
                <a:latin typeface="Pretendard"/>
                <a:ea typeface="Pretendard"/>
              </a:rPr>
              <a:t>사라지던 농장을 데이터로 다음 세대에 잇겠습니다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5528" y="4892040"/>
            <a:ext cx="10607040" cy="0"/>
          </a:xfrm>
          <a:prstGeom prst="bentConnector3">
            <a:avLst/>
          </a:prstGeom>
          <a:ln w="12700">
            <a:solidFill>
              <a:srgbClr val="2C47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51206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spc="0">
                <a:solidFill>
                  <a:srgbClr val="FFFFFF"/>
                </a:solidFill>
                <a:latin typeface="Pretendard SemiBold"/>
                <a:ea typeface="Pretendard SemiBold"/>
              </a:rPr>
              <a:t>farmbaton.vercel.app</a:t>
            </a:r>
            <a:r>
              <a:rPr sz="1300" b="0" spc="0">
                <a:solidFill>
                  <a:srgbClr val="8FA595"/>
                </a:solidFill>
                <a:latin typeface="Pretendard"/>
                <a:ea typeface="Pretendard"/>
              </a:rPr>
              <a:t>   지금 접속해 보세요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6281928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6274613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13301C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63093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50">
                <a:solidFill>
                  <a:srgbClr val="6E786F"/>
                </a:solidFill>
                <a:latin typeface="Pretendard Medium"/>
                <a:ea typeface="Pretendard Medium"/>
              </a:rPr>
              <a:t>감사합니다 · 김정훈 · 윤채원 · 유수민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5029200"/>
            <a:ext cx="1371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6416" y="5157216"/>
            <a:ext cx="1115568" cy="11155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833</Words>
  <Application>Microsoft Office PowerPoint</Application>
  <PresentationFormat>와이드스크린</PresentationFormat>
  <Paragraphs>208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Pretendard</vt:lpstr>
      <vt:lpstr>Pretendard Black</vt:lpstr>
      <vt:lpstr>Pretendard ExtraBold</vt:lpstr>
      <vt:lpstr>Pretendard Medium</vt:lpstr>
      <vt:lpstr>Pretendard SemiBold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정훈 김</cp:lastModifiedBy>
  <cp:revision>1</cp:revision>
  <dcterms:created xsi:type="dcterms:W3CDTF">2013-01-27T09:14:16Z</dcterms:created>
  <dcterms:modified xsi:type="dcterms:W3CDTF">2026-07-20T05:01:57Z</dcterms:modified>
  <cp:category/>
</cp:coreProperties>
</file>