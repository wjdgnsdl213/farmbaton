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팜바톤 발표 템플릿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복제해서 내용만 바꿔 쓰세요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T1  다크 타이틀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103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발표 시작 — 다크 밴드 + 브랜드 카피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700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T2  기본 콘텐츠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6700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킥커·헤드라인 + 본문 + 하단 결론 한 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36976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T3  빅넘버 3열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23697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핵심 수치 — 위기 지표 열만 앰버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0390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T4  비교표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8039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헤어라인 표 — 팜바톤 열만 틴트 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7083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T5  단계 리스트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3708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수익모델·로드맵형 행 리스트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03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T6  좌우 분할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좌 텍스트 스택 + 우 이미지·목업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6700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T7  3열 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700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팀 소개 등 동급 3열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36976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T8  차트·다이어그램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3697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풀 영역 + 출처 캡션 자리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80390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T9  다크 클로징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8039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발표 끝 — 각인 카피 + URL·QR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5257800"/>
            <a:ext cx="10634472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5440680"/>
            <a:ext cx="106344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 spc="0">
                <a:solidFill>
                  <a:srgbClr val="1F8047"/>
                </a:solidFill>
                <a:latin typeface="Pretendard SemiBold"/>
                <a:ea typeface="Pretendard SemiBold"/>
              </a:rPr>
              <a:t>규칙 요약 — 자세한 것은 docs/발표_디자인시스템.md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헤드라인·숫자는 Black/ExtraBold, 나머지는 SemiBold 이하(700 금지) · 초록 강조는 화면당 1회 · 위기 수치는 앰버 전담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구획은 헤어라인, 그림자·그라데이션·이모지 금지 · 라운드 14px 초과 금지 · 문단 텍스트 금지(대사로)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T0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spc="220">
                <a:solidFill>
                  <a:srgbClr val="A8C66C"/>
                </a:solidFill>
                <a:latin typeface="Pretendard Medium"/>
                <a:ea typeface="Pretendard Medium"/>
              </a:rPr>
              <a:t>행사·대회명 (킥커 자리)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95528" y="1060704"/>
            <a:ext cx="2926080" cy="0"/>
          </a:xfrm>
          <a:prstGeom prst="bentConnector3">
            <a:avLst/>
          </a:prstGeom>
          <a:ln w="12700">
            <a:solidFill>
              <a:srgbClr val="2C47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10312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600" b="0" spc="-200">
                <a:solidFill>
                  <a:srgbClr val="FFFFFF"/>
                </a:solidFill>
                <a:latin typeface="Pretendard Black"/>
                <a:ea typeface="Pretendard Black"/>
              </a:rPr>
              <a:t>타이틀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673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spc="400">
                <a:solidFill>
                  <a:srgbClr val="C9D6CC"/>
                </a:solidFill>
                <a:latin typeface="Pretendard Medium"/>
                <a:ea typeface="Pretendard Medium"/>
              </a:rPr>
              <a:t>Sub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46817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spc="-50">
                <a:solidFill>
                  <a:srgbClr val="FFFFFF"/>
                </a:solidFill>
                <a:latin typeface="Pretendard ExtraBold"/>
                <a:ea typeface="Pretendard ExtraBold"/>
              </a:rPr>
              <a:t>한 줄 카피 — 강조어는 </a:t>
            </a:r>
            <a:r>
              <a:rPr sz="2700" b="0" spc="-50">
                <a:solidFill>
                  <a:srgbClr val="A8C66C"/>
                </a:solidFill>
                <a:latin typeface="Pretendard Black"/>
                <a:ea typeface="Pretendard Black"/>
              </a:rPr>
              <a:t>세이지 색 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95528" y="5943600"/>
            <a:ext cx="10607040" cy="0"/>
          </a:xfrm>
          <a:prstGeom prst="bentConnector3">
            <a:avLst/>
          </a:prstGeom>
          <a:ln w="12700">
            <a:solidFill>
              <a:srgbClr val="2C47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6117336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10021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13301C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61447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spc="0">
                <a:solidFill>
                  <a:srgbClr val="FFFFFF"/>
                </a:solidFill>
                <a:latin typeface="Pretendard SemiBold"/>
                <a:ea typeface="Pretendard SemiBold"/>
              </a:rPr>
              <a:t>url-or-key-fact</a:t>
            </a:r>
            <a:r>
              <a:rPr sz="1250" b="0" spc="0">
                <a:solidFill>
                  <a:srgbClr val="8FA595"/>
                </a:solidFill>
                <a:latin typeface="Pretendard"/>
                <a:ea typeface="Pretendard"/>
              </a:rPr>
              <a:t>   보조 문구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14476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0" spc="50">
                <a:solidFill>
                  <a:srgbClr val="8FA595"/>
                </a:solidFill>
                <a:latin typeface="Pretendard Medium"/>
                <a:ea typeface="Pretendard Medium"/>
              </a:rPr>
              <a:t>발표자 이름들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카테고리 · 킥커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헤드라인 — 슬라이드당 메시지 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본문 영역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문단을 쓰지 말고 구·라벨 단위로. 서술은 발표 대사에 둔다.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행이 여러 개면 행 사이에 헤어라인.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5596128"/>
            <a:ext cx="10634472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8952" y="581558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 spc="-30">
                <a:solidFill>
                  <a:srgbClr val="1B241D"/>
                </a:solidFill>
                <a:latin typeface="Pretendard Medium"/>
                <a:ea typeface="Pretendard Medium"/>
              </a:rPr>
              <a:t>하단 결론 한 문장 — </a:t>
            </a:r>
            <a:r>
              <a:rPr sz="1900" b="0" spc="-30">
                <a:solidFill>
                  <a:srgbClr val="2E9E57"/>
                </a:solidFill>
                <a:latin typeface="Pretendard ExtraBold"/>
                <a:ea typeface="Pretendard ExtraBold"/>
              </a:rPr>
              <a:t>강조 런은 초록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T2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카테고리 · 킥커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빅넘버 헤드라인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400" b="0" spc="-200">
                <a:solidFill>
                  <a:srgbClr val="13301C"/>
                </a:solidFill>
                <a:latin typeface="Pretendard Black"/>
                <a:ea typeface="Pretendard Black"/>
              </a:rPr>
              <a:t>00.0</a:t>
            </a:r>
            <a:r>
              <a:rPr sz="2200" b="0" spc="0">
                <a:solidFill>
                  <a:srgbClr val="66706A"/>
                </a:solidFill>
                <a:latin typeface="Pretendard Medium"/>
                <a:ea typeface="Pretendard Medium"/>
              </a:rPr>
              <a:t>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913632"/>
            <a:ext cx="2194560" cy="0"/>
          </a:xfrm>
          <a:prstGeom prst="bentConnector3">
            <a:avLst/>
          </a:prstGeom>
          <a:ln w="31750">
            <a:solidFill>
              <a:srgbClr val="1330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4069080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지표 라벨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부연 설명 한 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66260" y="2578608"/>
            <a:ext cx="0" cy="214884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34840" y="2468880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400" b="0" spc="-200">
                <a:solidFill>
                  <a:srgbClr val="13301C"/>
                </a:solidFill>
                <a:latin typeface="Pretendard Black"/>
                <a:ea typeface="Pretendard Black"/>
              </a:rPr>
              <a:t>00</a:t>
            </a:r>
            <a:r>
              <a:rPr sz="2200" b="0" spc="0">
                <a:solidFill>
                  <a:srgbClr val="66706A"/>
                </a:solidFill>
                <a:latin typeface="Pretendard Medium"/>
                <a:ea typeface="Pretendard Medium"/>
              </a:rPr>
              <a:t>만 가구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80560" y="3913632"/>
            <a:ext cx="2194560" cy="0"/>
          </a:xfrm>
          <a:prstGeom prst="bentConnector3">
            <a:avLst/>
          </a:prstGeom>
          <a:ln w="31750">
            <a:solidFill>
              <a:srgbClr val="1330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34840" y="4069080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지표 라벨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부연 설명 한 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23860" y="2578608"/>
            <a:ext cx="0" cy="214884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92440" y="2468880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400" b="0" spc="-200">
                <a:solidFill>
                  <a:srgbClr val="C26B2E"/>
                </a:solidFill>
                <a:latin typeface="Pretendard Black"/>
                <a:ea typeface="Pretendard Black"/>
              </a:rPr>
              <a:t>0.0</a:t>
            </a:r>
            <a:r>
              <a:rPr sz="2200" b="0" spc="0">
                <a:solidFill>
                  <a:srgbClr val="66706A"/>
                </a:solidFill>
                <a:latin typeface="Pretendard Medium"/>
                <a:ea typeface="Pretendard Medium"/>
              </a:rPr>
              <a:t>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60" y="3913632"/>
            <a:ext cx="2194560" cy="0"/>
          </a:xfrm>
          <a:prstGeom prst="bentConnector3">
            <a:avLst/>
          </a:prstGeom>
          <a:ln w="31750">
            <a:solidFill>
              <a:srgbClr val="C26B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92440" y="4069080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위기 지표 라벨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위기·감소 지표만 앰버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5596128"/>
            <a:ext cx="10634472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8952" y="581558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 spc="-30">
                <a:solidFill>
                  <a:srgbClr val="1B241D"/>
                </a:solidFill>
                <a:latin typeface="Pretendard Medium"/>
                <a:ea typeface="Pretendard Medium"/>
              </a:rPr>
              <a:t>하단 결론 한 문장 — </a:t>
            </a:r>
            <a:r>
              <a:rPr sz="1900" b="0" spc="-30">
                <a:solidFill>
                  <a:srgbClr val="2E9E57"/>
                </a:solidFill>
                <a:latin typeface="Pretendard ExtraBold"/>
                <a:ea typeface="Pretendard ExtraBold"/>
              </a:rPr>
              <a:t>강조 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99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spc="50">
                <a:solidFill>
                  <a:srgbClr val="9AA49B"/>
                </a:solidFill>
                <a:latin typeface="Pretendard"/>
                <a:ea typeface="Pretendard"/>
              </a:rPr>
              <a:t>출처: 기관 · 조사명(연도)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T3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카테고리 · 킥커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비교표 헤드라인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61704" y="1965960"/>
            <a:ext cx="2350008" cy="3794760"/>
          </a:xfrm>
          <a:prstGeom prst="roundRect">
            <a:avLst>
              <a:gd name="adj" fmla="val 4000"/>
            </a:avLst>
          </a:prstGeom>
          <a:solidFill>
            <a:srgbClr val="EC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061704" y="1965960"/>
            <a:ext cx="2350008" cy="0"/>
          </a:xfrm>
          <a:prstGeom prst="bentConnector3">
            <a:avLst/>
          </a:prstGeom>
          <a:ln w="25400">
            <a:solidFill>
              <a:srgbClr val="1B24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1488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1488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비교 대상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488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비교 대상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488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비교 대상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4584" y="214884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F8047"/>
                </a:solidFill>
                <a:latin typeface="Pretendard ExtraBold"/>
                <a:ea typeface="Pretendard ExtraBold"/>
              </a:rPr>
              <a:t>팜바톤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578608"/>
            <a:ext cx="10634472" cy="0"/>
          </a:xfrm>
          <a:prstGeom prst="bentConnector3">
            <a:avLst/>
          </a:prstGeom>
          <a:ln w="15875">
            <a:solidFill>
              <a:srgbClr val="1B24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8803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B241D"/>
                </a:solidFill>
                <a:latin typeface="Pretendard SemiBold"/>
                <a:ea typeface="Pretendard SemiBold"/>
              </a:rPr>
              <a:t>기준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880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880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880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28803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B241D"/>
                </a:solidFill>
                <a:latin typeface="Pretendard SemiBold"/>
                <a:ea typeface="Pretendard SemiBold"/>
              </a:rPr>
              <a:t>차별점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3538728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37947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B241D"/>
                </a:solidFill>
                <a:latin typeface="Pretendard SemiBold"/>
                <a:ea typeface="Pretendard SemiBold"/>
              </a:rPr>
              <a:t>기준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794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794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794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37947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B241D"/>
                </a:solidFill>
                <a:latin typeface="Pretendard SemiBold"/>
                <a:ea typeface="Pretendard SemiBold"/>
              </a:rPr>
              <a:t>차별점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4453128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47091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B241D"/>
                </a:solidFill>
                <a:latin typeface="Pretendard SemiBold"/>
                <a:ea typeface="Pretendard SemiBold"/>
              </a:rPr>
              <a:t>기준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7091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7091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7091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47091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B241D"/>
                </a:solidFill>
                <a:latin typeface="Pretendard SemiBold"/>
                <a:ea typeface="Pretendard SemiBold"/>
              </a:rPr>
              <a:t>차별점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6126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표 아래 결론 한 문장 </a:t>
            </a: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 보조 설명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T4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카테고리 · 킥커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단계 리스트 헤드라인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2E9E57"/>
                </a:solidFill>
                <a:latin typeface="Pretendard ExtraBold"/>
                <a:ea typeface="Pretendard ExtraBol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4884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 b="0" spc="0">
                <a:solidFill>
                  <a:srgbClr val="1B241D"/>
                </a:solidFill>
                <a:latin typeface="Pretendard SemiBold"/>
                <a:ea typeface="Pretendard SemiBold"/>
              </a:rPr>
              <a:t>단계 제목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설명 한 줄 — caption 스타일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063240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320040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F8F3A"/>
                </a:solidFill>
                <a:latin typeface="Pretendard ExtraBold"/>
                <a:ea typeface="Pretendard ExtraBold"/>
              </a:rPr>
              <a:t>2단계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20040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 b="0" spc="0">
                <a:solidFill>
                  <a:srgbClr val="1B241D"/>
                </a:solidFill>
                <a:latin typeface="Pretendard SemiBold"/>
                <a:ea typeface="Pretendard SemiBold"/>
              </a:rPr>
              <a:t>단계 제목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설명 한 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4114800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25196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A8C66C"/>
                </a:solidFill>
                <a:latin typeface="Pretendard ExtraBold"/>
                <a:ea typeface="Pretendard ExtraBold"/>
              </a:rPr>
              <a:t>상시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2519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 b="0" spc="0">
                <a:solidFill>
                  <a:srgbClr val="1B241D"/>
                </a:solidFill>
                <a:latin typeface="Pretendard SemiBold"/>
                <a:ea typeface="Pretendard SemiBold"/>
              </a:rPr>
              <a:t>단계 제목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설명 한 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5166360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8952" y="5623560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spc="-30">
                <a:solidFill>
                  <a:srgbClr val="1F8047"/>
                </a:solidFill>
                <a:latin typeface="Pretendard ExtraBold"/>
                <a:ea typeface="Pretendard ExtraBold"/>
              </a:rPr>
              <a:t>리스트 아래 결론 한 문장 — 초록 강조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T5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카테고리 · 킥커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좌우 분할 헤드라인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포인트 제목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설명 한 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898648"/>
            <a:ext cx="4023360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3081528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포인트 제목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설명 한 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831336"/>
            <a:ext cx="4023360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4014216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포인트 제목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설명 한 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4764024"/>
            <a:ext cx="4023360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946904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포인트 제목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설명 한 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0" y="2240280"/>
            <a:ext cx="0" cy="329184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40680" y="2148840"/>
            <a:ext cx="5943600" cy="3346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148840"/>
            <a:ext cx="5943600" cy="3346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 spc="50">
                <a:solidFill>
                  <a:srgbClr val="9AA49B"/>
                </a:solidFill>
                <a:latin typeface="Pretendard Medium"/>
                <a:ea typeface="Pretendard Medium"/>
              </a:rPr>
              <a:t>이미지 · 목업 영역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5595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"/>
                <a:ea typeface="Pretendard"/>
              </a:rPr>
              <a:t>이미지 캡션 — 목업이면 '콘셉트 목업(예시 데이터)' 표기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72200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spc="0">
                <a:solidFill>
                  <a:srgbClr val="9AA49B"/>
                </a:solidFill>
                <a:latin typeface="Pretendard"/>
                <a:ea typeface="Pretendard"/>
              </a:rPr>
              <a:t>하단 보조 정보 한 줄 (fine · mute)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T6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카테고리 · 킥커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3열 카드 헤드라인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spc="-50">
                <a:solidFill>
                  <a:srgbClr val="13301C"/>
                </a:solidFill>
                <a:latin typeface="Pretendard Black"/>
                <a:ea typeface="Pretendard Black"/>
              </a:rPr>
              <a:t>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375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30">
                <a:solidFill>
                  <a:srgbClr val="1F8047"/>
                </a:solidFill>
                <a:latin typeface="Pretendard SemiBold"/>
                <a:ea typeface="Pretendard SemiBold"/>
              </a:rPr>
              <a:t>역할 · 전공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담당 영역 한 줄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담당 영역 한 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2560320"/>
            <a:ext cx="0" cy="210312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43400" y="25146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spc="-50">
                <a:solidFill>
                  <a:srgbClr val="13301C"/>
                </a:solidFill>
                <a:latin typeface="Pretendard Black"/>
                <a:ea typeface="Pretendard Black"/>
              </a:rPr>
              <a:t>이름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3375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30">
                <a:solidFill>
                  <a:srgbClr val="1F8047"/>
                </a:solidFill>
                <a:latin typeface="Pretendard SemiBold"/>
                <a:ea typeface="Pretendard SemiBold"/>
              </a:rPr>
              <a:t>역할 · 전공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8404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담당 영역 한 줄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담당 영역 한 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0960" y="2560320"/>
            <a:ext cx="0" cy="210312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09560" y="25146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spc="-50">
                <a:solidFill>
                  <a:srgbClr val="13301C"/>
                </a:solidFill>
                <a:latin typeface="Pretendard Black"/>
                <a:ea typeface="Pretendard Black"/>
              </a:rPr>
              <a:t>이름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3375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30">
                <a:solidFill>
                  <a:srgbClr val="1F8047"/>
                </a:solidFill>
                <a:latin typeface="Pretendard SemiBold"/>
                <a:ea typeface="Pretendard SemiBold"/>
              </a:rPr>
              <a:t>역할 · 전공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8404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담당 영역 한 줄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담당 영역 한 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T7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카테고리 · 킥커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차트·다이어그램 헤드라인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10634472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634472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 spc="50">
                <a:solidFill>
                  <a:srgbClr val="9AA49B"/>
                </a:solidFill>
                <a:latin typeface="Pretendard Medium"/>
                <a:ea typeface="Pretendard Medium"/>
              </a:rPr>
              <a:t>차트 · 다이어그램 영역  (선 2.5px · 직접 라벨은 처음·끝만 · 위기 데이터는 앰버)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35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spc="50">
                <a:solidFill>
                  <a:srgbClr val="9AA49B"/>
                </a:solidFill>
                <a:latin typeface="Pretendard"/>
                <a:ea typeface="Pretendard"/>
              </a:rPr>
              <a:t>출처: 기관 · 조사명(연도)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T8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spc="-30">
                <a:solidFill>
                  <a:srgbClr val="C9D6CC"/>
                </a:solidFill>
                <a:latin typeface="Pretendard SemiBold"/>
                <a:ea typeface="Pretendard SemiBold"/>
              </a:rPr>
              <a:t>리드 문장 (PALE 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37744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0" spc="-100">
                <a:solidFill>
                  <a:srgbClr val="FFFFFF"/>
                </a:solidFill>
                <a:latin typeface="Pretendard ExtraBold"/>
                <a:ea typeface="Pretendard ExtraBold"/>
              </a:rPr>
              <a:t>비포 카피</a:t>
            </a:r>
            <a:r>
              <a:rPr sz="3000" b="0" spc="0">
                <a:solidFill>
                  <a:srgbClr val="5A6E60"/>
                </a:solidFill>
                <a:latin typeface="Pretendard Medium"/>
                <a:ea typeface="Pretendard Medium"/>
              </a:rPr>
              <a:t>   →   </a:t>
            </a:r>
            <a:r>
              <a:rPr sz="4600" b="0" spc="-150">
                <a:solidFill>
                  <a:srgbClr val="A8C66C"/>
                </a:solidFill>
                <a:latin typeface="Pretendard Black"/>
                <a:ea typeface="Pretendard Black"/>
              </a:rPr>
              <a:t>애프터 카피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703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spc="0">
                <a:solidFill>
                  <a:srgbClr val="C9D6CC"/>
                </a:solidFill>
                <a:latin typeface="Pretendard"/>
                <a:ea typeface="Pretendard"/>
              </a:rPr>
              <a:t>마무리 문장 한 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5528" y="4892040"/>
            <a:ext cx="10607040" cy="0"/>
          </a:xfrm>
          <a:prstGeom prst="bentConnector3">
            <a:avLst/>
          </a:prstGeom>
          <a:ln w="12700">
            <a:solidFill>
              <a:srgbClr val="2C47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51206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spc="0">
                <a:solidFill>
                  <a:srgbClr val="FFFFFF"/>
                </a:solidFill>
                <a:latin typeface="Pretendard SemiBold"/>
                <a:ea typeface="Pretendard SemiBold"/>
              </a:rPr>
              <a:t>url-or-cta</a:t>
            </a:r>
            <a:r>
              <a:rPr sz="1300" b="0" spc="0">
                <a:solidFill>
                  <a:srgbClr val="8FA595"/>
                </a:solidFill>
                <a:latin typeface="Pretendard"/>
                <a:ea typeface="Pretendard"/>
              </a:rPr>
              <a:t>   보조 문구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5029200"/>
            <a:ext cx="1371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502920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 spc="100">
                <a:solidFill>
                  <a:srgbClr val="9AA49B"/>
                </a:solidFill>
                <a:latin typeface="Pretendard SemiBold"/>
                <a:ea typeface="Pretendard SemiBold"/>
              </a:rPr>
              <a:t>QR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6281928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274613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13301C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63093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50">
                <a:solidFill>
                  <a:srgbClr val="6E786F"/>
                </a:solidFill>
                <a:latin typeface="Pretendard Medium"/>
                <a:ea typeface="Pretendard Medium"/>
              </a:rPr>
              <a:t>감사 인사 · 발표자 이름들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