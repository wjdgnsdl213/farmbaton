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5f203c0d1641d9" /><Relationship Type="http://schemas.openxmlformats.org/officeDocument/2006/relationships/extended-properties" Target="/docProps/app.xml" Id="Rf51c2755780d4624" /><Relationship Type="http://schemas.openxmlformats.org/officeDocument/2006/relationships/officeDocument" Target="/ppt/presentation.xml" Id="R8b376ae2e80a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e5118bb2d0450b"/>
  </p:sldMasterIdLst>
  <p:notesMasterIdLst>
    <p:notesMasterId xmlns:r="http://schemas.openxmlformats.org/officeDocument/2006/relationships" r:id="R2c2bb620951d4028"/>
  </p:notesMasterIdLst>
  <p:sldIdLst>
    <p:sldId xmlns:r="http://schemas.openxmlformats.org/officeDocument/2006/relationships" id="256" r:id="R04aeb7f64d9549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4f0454da804745" /><Relationship Type="http://schemas.openxmlformats.org/officeDocument/2006/relationships/slideMaster" Target="/ppt/slideMasters/slideMaster1.xml" Id="R7be5118bb2d0450b" /><Relationship Type="http://schemas.openxmlformats.org/officeDocument/2006/relationships/notesMaster" Target="/ppt/notesMasters/notesMaster1.xml" Id="R2c2bb620951d4028" /><Relationship Type="http://schemas.openxmlformats.org/officeDocument/2006/relationships/presProps" Target="/ppt/presProps.xml" Id="R41cf5bc4ec4a42c3" /><Relationship Type="http://schemas.openxmlformats.org/officeDocument/2006/relationships/tableStyles" Target="/ppt/tableStyles.xml" Id="R2e728c9ab5b945a3" /><Relationship Type="http://schemas.openxmlformats.org/officeDocument/2006/relationships/slide" Target="/ppt/slides/slide1.xml" Id="R04aeb7f64d9549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3449ce1daa48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0e4440efde47b5" /><Relationship Type="http://schemas.openxmlformats.org/officeDocument/2006/relationships/notesMaster" Target="/ppt/notesMasters/notesMaster1.xml" Id="R7a105558c9a045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622d3999b04e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e633167bd54b01" /><Relationship Type="http://schemas.openxmlformats.org/officeDocument/2006/relationships/slideLayout" Target="/ppt/slideLayouts/slideLayout1.xml" Id="R41deb4f3d1954a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deb4f3d1954a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d8d563ce1444b" /><Relationship Type="http://schemas.openxmlformats.org/officeDocument/2006/relationships/notesSlide" Target="/ppt/notesSlides/notesSlide1.xml" Id="R28af51d993ba44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eyebrow">
            <a:extLst xmlns:a="http://schemas.openxmlformats.org/drawingml/2006/main">
              <a:ext uri="{FF2B5EF4-FFF2-40B4-BE49-F238E27FC236}">
                <a16:creationId xmlns:a16="http://schemas.microsoft.com/office/drawing/2014/main" id="{4A45E36E-73B2-4BAE-93A2-5CAD63920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F665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6654"/>
                </a:solidFill>
                <a:latin typeface="Noto Sans KR"/>
                <a:ea typeface="Noto Sans KR"/>
                <a:cs typeface="Noto Sans KR"/>
              </a:rPr>
              <a:t>농업승계의 현실</a:t>
            </a:r>
          </a:p>
        </p:txBody>
      </p:sp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9CC470F3-CFAD-48D4-BFC5-17DB5BC5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251F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16251F"/>
                </a:solidFill>
                <a:latin typeface="Noto Sans KR"/>
                <a:ea typeface="Noto Sans KR"/>
                <a:cs typeface="Noto Sans KR"/>
              </a:rPr>
              <a:t>농장을 넘기고 싶어도, 승계는 쉽게 시작되지 않습니다</a:t>
            </a:r>
          </a:p>
        </p:txBody>
      </p:sp>
      <p:sp>
        <p:nvSpPr>
          <p:cNvPr id="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5DF51B3-8233-4CC1-8F32-9CE26D4F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8736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68736D"/>
                </a:solidFill>
                <a:latin typeface="Noto Sans KR"/>
                <a:ea typeface="Noto Sans KR"/>
                <a:cs typeface="Noto Sans KR"/>
              </a:rPr>
              <a:t>승계를 가로막는 세 가지 단절</a:t>
            </a:r>
          </a:p>
        </p:txBody>
      </p:sp>
      <p:sp>
        <p:nvSpPr>
          <p:cNvPr id="4" name="cause-successor">
            <a:extLst xmlns:a="http://schemas.openxmlformats.org/drawingml/2006/main">
              <a:ext uri="{FF2B5EF4-FFF2-40B4-BE49-F238E27FC236}">
                <a16:creationId xmlns:a16="http://schemas.microsoft.com/office/drawing/2014/main" id="{5A65BF7B-7005-40DD-95D6-52DF43D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2385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73E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ause-process">
            <a:extLst xmlns:a="http://schemas.openxmlformats.org/drawingml/2006/main">
              <a:ext uri="{FF2B5EF4-FFF2-40B4-BE49-F238E27FC236}">
                <a16:creationId xmlns:a16="http://schemas.microsoft.com/office/drawing/2014/main" id="{9E9D1042-7DC6-4554-951C-5F51162A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2385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9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use-trust">
            <a:extLst xmlns:a="http://schemas.openxmlformats.org/drawingml/2006/main">
              <a:ext uri="{FF2B5EF4-FFF2-40B4-BE49-F238E27FC236}">
                <a16:creationId xmlns:a16="http://schemas.microsoft.com/office/drawing/2014/main" id="{280D4EC0-AF26-4C46-8227-F93469CE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32385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E9E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uccessor-stat">
            <a:extLst xmlns:a="http://schemas.openxmlformats.org/drawingml/2006/main">
              <a:ext uri="{FF2B5EF4-FFF2-40B4-BE49-F238E27FC236}">
                <a16:creationId xmlns:a16="http://schemas.microsoft.com/office/drawing/2014/main" id="{B37DDEE6-A95A-4F19-AAF8-FADE4A05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266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4271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DF7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>
                <a:solidFill>
                  <a:srgbClr val="FFFDF7"/>
                </a:solidFill>
                <a:latin typeface="Noto Sans KR"/>
                <a:ea typeface="Noto Sans KR"/>
                <a:cs typeface="Noto Sans KR"/>
              </a:rPr>
              <a:t>약 75%</a:t>
            </a:r>
          </a:p>
        </p:txBody>
      </p:sp>
      <p:sp>
        <p:nvSpPr>
          <p:cNvPr id="8" name="successor-title">
            <a:extLst xmlns:a="http://schemas.openxmlformats.org/drawingml/2006/main">
              <a:ext uri="{FF2B5EF4-FFF2-40B4-BE49-F238E27FC236}">
                <a16:creationId xmlns:a16="http://schemas.microsoft.com/office/drawing/2014/main" id="{CFA0E9AE-16A7-4683-9EE2-1396A7C2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후계자 부재</a:t>
            </a:r>
          </a:p>
        </p:txBody>
      </p:sp>
      <p:sp>
        <p:nvSpPr>
          <p:cNvPr id="9" name="successor-detail">
            <a:extLst xmlns:a="http://schemas.openxmlformats.org/drawingml/2006/main">
              <a:ext uri="{FF2B5EF4-FFF2-40B4-BE49-F238E27FC236}">
                <a16:creationId xmlns:a16="http://schemas.microsoft.com/office/drawing/2014/main" id="{E36780FA-47F5-474B-B92A-6A0CBC9D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9E3D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D9E3DE"/>
                </a:solidFill>
                <a:latin typeface="Noto Sans KR"/>
                <a:ea typeface="Noto Sans KR"/>
                <a:cs typeface="Noto Sans KR"/>
              </a:rPr>
              <a:t>65세 이상 고령농업인</a:t>
            </a:r>
          </a:p>
          <a:p xmlns:a="http://schemas.openxmlformats.org/drawingml/2006/main">
            <a:pPr>
              <a:defRPr sz="1275">
                <a:solidFill>
                  <a:srgbClr val="D9E3D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D9E3DE"/>
                </a:solidFill>
                <a:latin typeface="Noto Sans KR"/>
                <a:ea typeface="Noto Sans KR"/>
                <a:cs typeface="Noto Sans KR"/>
              </a:rPr>
              <a:t>4명 중 3명꼴</a:t>
            </a:r>
          </a:p>
        </p:txBody>
      </p:sp>
      <p:sp>
        <p:nvSpPr>
          <p:cNvPr id="10" name="process-index">
            <a:extLst xmlns:a="http://schemas.openxmlformats.org/drawingml/2006/main">
              <a:ext uri="{FF2B5EF4-FFF2-40B4-BE49-F238E27FC236}">
                <a16:creationId xmlns:a16="http://schemas.microsoft.com/office/drawing/2014/main" id="{DC43070D-3C53-4DE9-B940-0B226A38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09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77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3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process-title">
            <a:extLst xmlns:a="http://schemas.openxmlformats.org/drawingml/2006/main">
              <a:ext uri="{FF2B5EF4-FFF2-40B4-BE49-F238E27FC236}">
                <a16:creationId xmlns:a16="http://schemas.microsoft.com/office/drawing/2014/main" id="{83921D56-8DC9-457F-8C03-51B4B642D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43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51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6251F"/>
                </a:solidFill>
                <a:latin typeface="Noto Sans KR"/>
                <a:ea typeface="Noto Sans KR"/>
                <a:cs typeface="Noto Sans KR"/>
              </a:rPr>
              <a:t>승계 절차의 분절</a:t>
            </a:r>
          </a:p>
        </p:txBody>
      </p:sp>
      <p:sp>
        <p:nvSpPr>
          <p:cNvPr id="12" name="process-detail">
            <a:extLst xmlns:a="http://schemas.openxmlformats.org/drawingml/2006/main">
              <a:ext uri="{FF2B5EF4-FFF2-40B4-BE49-F238E27FC236}">
                <a16:creationId xmlns:a16="http://schemas.microsoft.com/office/drawing/2014/main" id="{57BD0FA7-4B94-4209-9463-9FDBFA62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241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rPr>
              <a:t>농지·시설·작목·판로 정보와 절차가</a:t>
            </a:r>
          </a:p>
          <a:p xmlns:a="http://schemas.openxmlformats.org/drawingml/2006/main">
            <a:pPr>
              <a:def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rPr>
              <a:t>흩어져 있습니다</a:t>
            </a:r>
          </a:p>
        </p:txBody>
      </p:sp>
      <p:sp>
        <p:nvSpPr>
          <p:cNvPr id="13" name="trust-index">
            <a:extLst xmlns:a="http://schemas.openxmlformats.org/drawingml/2006/main">
              <a:ext uri="{FF2B5EF4-FFF2-40B4-BE49-F238E27FC236}">
                <a16:creationId xmlns:a16="http://schemas.microsoft.com/office/drawing/2014/main" id="{ABBF77B7-8B54-4B24-951E-168A02E1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09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9773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9773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trust-title">
            <a:extLst xmlns:a="http://schemas.openxmlformats.org/drawingml/2006/main">
              <a:ext uri="{FF2B5EF4-FFF2-40B4-BE49-F238E27FC236}">
                <a16:creationId xmlns:a16="http://schemas.microsoft.com/office/drawing/2014/main" id="{8DBB5F26-F2ED-47CB-9B2B-DCEEB115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251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6251F"/>
                </a:solidFill>
                <a:latin typeface="Noto Sans KR"/>
                <a:ea typeface="Noto Sans KR"/>
                <a:cs typeface="Noto Sans KR"/>
              </a:rPr>
              <a:t>신뢰 형성의 어려움</a:t>
            </a:r>
          </a:p>
        </p:txBody>
      </p:sp>
      <p:sp>
        <p:nvSpPr>
          <p:cNvPr id="15" name="trust-detail">
            <a:extLst xmlns:a="http://schemas.openxmlformats.org/drawingml/2006/main">
              <a:ext uri="{FF2B5EF4-FFF2-40B4-BE49-F238E27FC236}">
                <a16:creationId xmlns:a16="http://schemas.microsoft.com/office/drawing/2014/main" id="{0BAFC02C-E9C7-48E7-89FD-BAC3EADD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66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rPr>
              <a:t>농장 상태와 인수 조건을 판단할</a:t>
            </a:r>
          </a:p>
          <a:p xmlns:a="http://schemas.openxmlformats.org/drawingml/2006/main">
            <a:pPr>
              <a:def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rPr>
              <a:t>객관적 근거가 부족합니다</a:t>
            </a:r>
          </a:p>
        </p:txBody>
      </p:sp>
      <p:sp>
        <p:nvSpPr>
          <p:cNvPr id="16" name="bottleneck">
            <a:extLst xmlns:a="http://schemas.openxmlformats.org/drawingml/2006/main">
              <a:ext uri="{FF2B5EF4-FFF2-40B4-BE49-F238E27FC236}">
                <a16:creationId xmlns:a16="http://schemas.microsoft.com/office/drawing/2014/main" id="{C2E876BC-A3EE-41AC-9DE7-018069FE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981450"/>
            <a:ext cx="2381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97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ttleneck-label">
            <a:extLst xmlns:a="http://schemas.openxmlformats.org/drawingml/2006/main">
              <a:ext uri="{FF2B5EF4-FFF2-40B4-BE49-F238E27FC236}">
                <a16:creationId xmlns:a16="http://schemas.microsoft.com/office/drawing/2014/main" id="{0C53193C-444A-4300-B20C-753640DC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767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승계 지연·무산</a:t>
            </a:r>
          </a:p>
        </p:txBody>
      </p:sp>
      <p:sp>
        <p:nvSpPr>
          <p:cNvPr id="18" name="outcome-inheritance">
            <a:extLst xmlns:a="http://schemas.openxmlformats.org/drawingml/2006/main">
              <a:ext uri="{FF2B5EF4-FFF2-40B4-BE49-F238E27FC236}">
                <a16:creationId xmlns:a16="http://schemas.microsoft.com/office/drawing/2014/main" id="{1F5B08B3-6739-4933-A46E-D3B6524F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4476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E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outcome-neglect">
            <a:extLst xmlns:a="http://schemas.openxmlformats.org/drawingml/2006/main">
              <a:ext uri="{FF2B5EF4-FFF2-40B4-BE49-F238E27FC236}">
                <a16:creationId xmlns:a16="http://schemas.microsoft.com/office/drawing/2014/main" id="{D26611BC-BAE9-40F8-ACDA-8591D270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44767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EB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nheritance-accent">
            <a:extLst xmlns:a="http://schemas.openxmlformats.org/drawingml/2006/main">
              <a:ext uri="{FF2B5EF4-FFF2-40B4-BE49-F238E27FC236}">
                <a16:creationId xmlns:a16="http://schemas.microsoft.com/office/drawing/2014/main" id="{32906EF1-D065-4946-A980-044F775E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glect-accent">
            <a:extLst xmlns:a="http://schemas.openxmlformats.org/drawingml/2006/main">
              <a:ext uri="{FF2B5EF4-FFF2-40B4-BE49-F238E27FC236}">
                <a16:creationId xmlns:a16="http://schemas.microsoft.com/office/drawing/2014/main" id="{4BD9F3B8-2ED1-4FFE-8119-470C2113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F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inheritance-title">
            <a:extLst xmlns:a="http://schemas.openxmlformats.org/drawingml/2006/main">
              <a:ext uri="{FF2B5EF4-FFF2-40B4-BE49-F238E27FC236}">
                <a16:creationId xmlns:a16="http://schemas.microsoft.com/office/drawing/2014/main" id="{F35865B7-F1E9-4C81-AF27-F7E65A2F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51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51F"/>
                </a:solidFill>
                <a:latin typeface="Noto Sans KR"/>
                <a:ea typeface="Noto Sans KR"/>
                <a:cs typeface="Noto Sans KR"/>
              </a:rPr>
              <a:t>준비되지 않은 가족 상속</a:t>
            </a:r>
          </a:p>
        </p:txBody>
      </p:sp>
      <p:sp>
        <p:nvSpPr>
          <p:cNvPr id="23" name="inheritance-detail">
            <a:extLst xmlns:a="http://schemas.openxmlformats.org/drawingml/2006/main">
              <a:ext uri="{FF2B5EF4-FFF2-40B4-BE49-F238E27FC236}">
                <a16:creationId xmlns:a16="http://schemas.microsoft.com/office/drawing/2014/main" id="{E993A598-642E-487E-9913-7F69134D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01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rPr>
              <a:t>영농 의사가 없는 가족에게 농장 자산만 이전</a:t>
            </a:r>
          </a:p>
        </p:txBody>
      </p:sp>
      <p:sp>
        <p:nvSpPr>
          <p:cNvPr id="24" name="neglect-title">
            <a:extLst xmlns:a="http://schemas.openxmlformats.org/drawingml/2006/main">
              <a:ext uri="{FF2B5EF4-FFF2-40B4-BE49-F238E27FC236}">
                <a16:creationId xmlns:a16="http://schemas.microsoft.com/office/drawing/2014/main" id="{9AFBDA78-8B08-474A-BB31-635E7487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381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53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251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6251F"/>
                </a:solidFill>
                <a:latin typeface="Noto Sans KR"/>
                <a:ea typeface="Noto Sans KR"/>
                <a:cs typeface="Noto Sans KR"/>
              </a:rPr>
              <a:t>휴경·시설 방치</a:t>
            </a:r>
          </a:p>
        </p:txBody>
      </p:sp>
      <p:sp>
        <p:nvSpPr>
          <p:cNvPr id="25" name="neglect-detail">
            <a:extLst xmlns:a="http://schemas.openxmlformats.org/drawingml/2006/main">
              <a:ext uri="{FF2B5EF4-FFF2-40B4-BE49-F238E27FC236}">
                <a16:creationId xmlns:a16="http://schemas.microsoft.com/office/drawing/2014/main" id="{DB97FE9F-C51A-4D6F-A614-B8369295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101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68736D"/>
                </a:solidFill>
                <a:latin typeface="Noto Sans KR"/>
                <a:ea typeface="Noto Sans KR"/>
                <a:cs typeface="Noto Sans KR"/>
              </a:rPr>
              <a:t>농지와 시설은 남지만 농장의 운영 기반은 소멸</a:t>
            </a:r>
          </a:p>
        </p:txBody>
      </p:sp>
      <p:cxnSp>
        <p:nvCxnSpPr>
          <p:cNvPr id="58" name=""/>
          <p:cNvCxnSpPr>
            <a:stCxn xmlns:a="http://schemas.openxmlformats.org/drawingml/2006/main" id="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2190750" y="3676650"/>
            <a:ext cx="390525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EB7B0"/>
            </a:solidFill>
            <a:prstDash val="solid"/>
            <a:tailEnd type="arrow" w="sm" len="sm"/>
          </a:ln>
        </p:spPr>
      </p:cxnSp>
      <p:cxnSp>
        <p:nvCxnSpPr>
          <p:cNvPr id="59" name=""/>
          <p:cNvCxnSpPr>
            <a:stCxn xmlns:a="http://schemas.openxmlformats.org/drawingml/2006/main" id="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96000" y="3676650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B7B0"/>
            </a:solidFill>
            <a:prstDash val="solid"/>
            <a:tailEnd type="arrow" w="sm" len="sm"/>
          </a:ln>
        </p:spPr>
      </p:cxnSp>
      <p:cxnSp>
        <p:nvCxnSpPr>
          <p:cNvPr id="60" name=""/>
          <p:cNvCxnSpPr>
            <a:stCxn xmlns:a="http://schemas.openxmlformats.org/drawingml/2006/main" id="6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096000" y="3676650"/>
            <a:ext cx="390525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AEB7B0"/>
            </a:solidFill>
            <a:prstDash val="solid"/>
            <a:tailEnd type="arrow" w="sm" len="sm"/>
          </a:ln>
        </p:spPr>
      </p:cxnSp>
      <p:cxnSp>
        <p:nvCxnSpPr>
          <p:cNvPr id="61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3381375" y="4495800"/>
            <a:ext cx="2714625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773D"/>
            </a:solidFill>
            <a:prstDash val="solid"/>
            <a:tailEnd type="arrow" w="sm" len="sm"/>
          </a:ln>
        </p:spPr>
      </p:cxnSp>
      <p:cxnSp>
        <p:nvCxnSpPr>
          <p:cNvPr id="62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4495800"/>
            <a:ext cx="2714625" cy="314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D9773D"/>
            </a:solidFill>
            <a:prstDash val="solid"/>
            <a:tailEnd type="arrow" w="sm" len="sm"/>
          </a:ln>
        </p:spPr>
      </p:cxnSp>
      <p:sp>
        <p:nvSpPr>
          <p:cNvPr id="31" name="takeaway">
            <a:extLst xmlns:a="http://schemas.openxmlformats.org/drawingml/2006/main">
              <a:ext uri="{FF2B5EF4-FFF2-40B4-BE49-F238E27FC236}">
                <a16:creationId xmlns:a16="http://schemas.microsoft.com/office/drawing/2014/main" id="{E97FDCE3-2034-4582-AE01-D94E6E73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977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73E34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>
                <a:solidFill>
                  <a:srgbClr val="173E34"/>
                </a:solidFill>
                <a:latin typeface="Noto Sans KR"/>
                <a:ea typeface="Noto Sans KR"/>
                <a:cs typeface="Noto Sans KR"/>
              </a:rPr>
              <a:t>농장은 상속되지만, 농업은 이어지지 않습니다.</a:t>
            </a:r>
          </a:p>
        </p:txBody>
      </p:sp>
      <p:sp>
        <p:nvSpPr>
          <p:cNvPr id="32" name="source">
            <a:extLst xmlns:a="http://schemas.openxmlformats.org/drawingml/2006/main">
              <a:ext uri="{FF2B5EF4-FFF2-40B4-BE49-F238E27FC236}">
                <a16:creationId xmlns:a16="http://schemas.microsoft.com/office/drawing/2014/main" id="{E3A7250F-0798-4ECA-9F72-8631321D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68736D"/>
                </a:solidFill>
                <a:latin typeface="Noto Sans KR"/>
                <a:ea typeface="Noto Sans KR"/>
                <a:cs typeface="Noto Sans KR"/>
              </a:defRPr>
            </a:pPr>
            <a:r>
              <a:rPr sz="825">
                <a:solidFill>
                  <a:srgbClr val="68736D"/>
                </a:solidFill>
                <a:latin typeface="Noto Sans KR"/>
                <a:ea typeface="Noto Sans KR"/>
                <a:cs typeface="Noto Sans KR"/>
              </a:rPr>
              <a:t>출처: 이향미·황의식(2024), 「농지청약도입 방안 연구」; 이향미·이승헌·장민기(2026), 한국산학기술학회 춘계학술발표논문집, p.63 재인용.</a:t>
            </a:r>
          </a:p>
        </p:txBody>
      </p:sp>
    </p:spTree>
    <p:extLst>
      <p:ext uri="{BB962C8B-B14F-4D97-AF65-F5344CB8AC3E}">
        <p14:creationId xmlns:p14="http://schemas.microsoft.com/office/powerpoint/2010/main" val="554940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2026-07-23T05:18:44.8430000Z</dcterms:created>
  <dcterms:modified xsi:type="dcterms:W3CDTF">2026-07-23T05:18:44.8430000Z</dcterms:modified>
</coreProperties>
</file>